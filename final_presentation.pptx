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911" autoAdjust="0"/>
  </p:normalViewPr>
  <p:slideViewPr>
    <p:cSldViewPr snapToGrid="0" snapToObjects="1">
      <p:cViewPr>
        <p:scale>
          <a:sx n="75" d="100"/>
          <a:sy n="75" d="100"/>
        </p:scale>
        <p:origin x="946"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345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number: cancellations cost this business roughly £1.26 million over just two years — with the UK alone responsible for £1.1 million of that, 85% of the total. This is money spent on logistics, restocking, and customer service that generated zero revenue. And here's why it's so easy to miss: this dataset alone has over 1 million transaction rows. At that scale, a cancellation is just one row among a million — invisible on its own. Losses like this don't announce themselves; they accumulate silently until you deliberately go looking for them. To bring visibility to this issue, we looked at cancellations through four lenses — geography, time, customers, and products — to find where the money is actually being lost and what's driving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Online Retail II dataset from UCI — real transactions from a UK-based online retailer, December 2009 to December 2011, just over 1 million rows across Invoice, StockCode, Description, Quantity, Date, Price, CustomerID, and Country. Cancellations are directly observable — no assumptions needed — flagged by invoice numbers starting with C and negative quantities. Four lenses, each with its own method and question: Geographic uses comparative rate analysis to ask if losses are concentrated in specific countries. Temporal uses monthly and quarterly trend analysis to ask if losses spike at specific times of year. Customer uses RFMR scoring plus Spearman correlation. Product uses Pareto analysis plus price-band segmentation.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UK accounts for 85.2% of total cancellation loss — but its cancellation rate, 16.4%, is actually below several smaller markets. Germany at 28.0% and Hong Kong at 28.6% cancel at nearly double the UK's rate. Six countries — UK, EIRE, Germany, France, Spain, Norway — together make up about 95% of all loss. Why it matters: the UK is your volume and exposure problem. Germany and EIRE are your rate problem.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Losses spike hard in Q4 2010 at £259,934, and again into Q1 — but the cancellation rate stays flat around 16.9% across both years. Why it matters: this is a capacity problem, not a behavior problem. You can staff and stock for it in advance because it's predictable, not random.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looked at how cancellation loss is distributed across all invoices in the top six markets. The distribution is heavily right-skewed: median loss per invoice is just £16.95, but the mean is £160.65 — nearly 9.5 times higher. Splitting by country, the answer is yes in some markets, no in others. Pareto holds in Norway, EIRE, France, and Spain. It does not hold in Germany or the UK.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Pareto didn't hold for UK and Germany, we dug into their highest-risk accounts using the RFMR framework. In the UK, high-risk accounts share a consistent shape: cancelled a while ago, infrequent buyers, mid-to-large order sizes. In Germany, two distinct profiles emerge: a one-time disengaged buyer, and a high-value chronic canceller. The recommended next step is K-Means clustering to validate whether these groupings hold up statistically.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found a negative correlation between frequency and return behavior in both the UK and Germany. Spearman r is minus 0.804 in the UK and minus 0.729 in Germany, both statistically significant. Frequency is a usable early-warning signal — low-frequency buyers are the danger zone.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 share of cancellations were flagged as StockCode M, or Manual. Since it can't be tied to any product, we excluded it, taking us from 1,048,576 rows to 1,039,238 product-level records. </a:t>
            </a:r>
          </a:p>
          <a:p>
            <a:r>
              <a:rPr lang="en-US" dirty="0"/>
              <a:t>The Medium Ceramic Top Storage Jar sits at the top of the loss chart at £77,480 and a 48.9% return rate. But when we investigated it, it showed that the entire loss comes from one customer cancelling 74k units in a single transaction in Jan 2011 (the same month the product launched). Every month after that, the return rate is below 5%.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cancelled products fall into the £1 to £3 price band, simply because most of the catalog is priced there. </a:t>
            </a:r>
          </a:p>
          <a:p>
            <a:r>
              <a:rPr lang="en-US" dirty="0"/>
              <a:t>The return rate tells a different story : items under £1 return at 3.1%. Items above £50 return at 15.7% — five times higher. Cheap items lose money through volume; expensive items lose money through rate.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the 3,058 SKUs cancelled, 438, or 14.3%, account for 80% of loss. The Pareto pattern holds but it’s broader than what we saw in geography. This means that category or price-band management beats SKU-by-SKU management. </a:t>
            </a:r>
          </a:p>
          <a:p>
            <a:r>
              <a:rPr lang="en-US" dirty="0"/>
              <a:t>Norway and France show no underlying product signal once account-level noise is removed. EIRE and Spain both show genuine, recurring product signals.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Geographic: data is recorded at country level only. Temporal: seasonality is a strong but inferred pattern, not statistically confirmed. Customer: RFMR scores are per-country and not comparable across markets. Product: StockCode M introduces real ambiguity. Future work: K-Means clustering, manual account review for small markets, postal data, a longer time series, category and supplier enrichment, and return-reason codes.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2"/>
        </a:solidFill>
        <a:effectLst/>
      </p:bgPr>
    </p:bg>
    <p:spTree>
      <p:nvGrpSpPr>
        <p:cNvPr id="1" name=""/>
        <p:cNvGrpSpPr/>
        <p:nvPr/>
      </p:nvGrpSpPr>
      <p:grpSpPr>
        <a:xfrm>
          <a:off x="0" y="0"/>
          <a:ext cx="0" cy="0"/>
          <a:chOff x="0" y="0"/>
          <a:chExt cx="0" cy="0"/>
        </a:xfrm>
      </p:grpSpPr>
      <p:sp>
        <p:nvSpPr>
          <p:cNvPr id="2" name="Shape 0"/>
          <p:cNvSpPr/>
          <p:nvPr/>
        </p:nvSpPr>
        <p:spPr>
          <a:xfrm>
            <a:off x="1463040" y="0"/>
            <a:ext cx="0" cy="6858000"/>
          </a:xfrm>
          <a:prstGeom prst="line">
            <a:avLst/>
          </a:prstGeom>
          <a:noFill/>
          <a:ln w="6350">
            <a:solidFill>
              <a:srgbClr val="232320"/>
            </a:solidFill>
            <a:prstDash val="solid"/>
          </a:ln>
        </p:spPr>
      </p:sp>
      <p:sp>
        <p:nvSpPr>
          <p:cNvPr id="3" name="Shape 1"/>
          <p:cNvSpPr/>
          <p:nvPr/>
        </p:nvSpPr>
        <p:spPr>
          <a:xfrm>
            <a:off x="3840480" y="0"/>
            <a:ext cx="0" cy="6858000"/>
          </a:xfrm>
          <a:prstGeom prst="line">
            <a:avLst/>
          </a:prstGeom>
          <a:noFill/>
          <a:ln w="6350">
            <a:solidFill>
              <a:srgbClr val="232320"/>
            </a:solidFill>
            <a:prstDash val="solid"/>
          </a:ln>
        </p:spPr>
      </p:sp>
      <p:sp>
        <p:nvSpPr>
          <p:cNvPr id="4" name="Shape 2"/>
          <p:cNvSpPr/>
          <p:nvPr/>
        </p:nvSpPr>
        <p:spPr>
          <a:xfrm>
            <a:off x="6217920" y="0"/>
            <a:ext cx="0" cy="6858000"/>
          </a:xfrm>
          <a:prstGeom prst="line">
            <a:avLst/>
          </a:prstGeom>
          <a:noFill/>
          <a:ln w="6350">
            <a:solidFill>
              <a:srgbClr val="232320"/>
            </a:solidFill>
            <a:prstDash val="solid"/>
          </a:ln>
        </p:spPr>
      </p:sp>
      <p:sp>
        <p:nvSpPr>
          <p:cNvPr id="5" name="Shape 3"/>
          <p:cNvSpPr/>
          <p:nvPr/>
        </p:nvSpPr>
        <p:spPr>
          <a:xfrm>
            <a:off x="8595360" y="0"/>
            <a:ext cx="0" cy="6858000"/>
          </a:xfrm>
          <a:prstGeom prst="line">
            <a:avLst/>
          </a:prstGeom>
          <a:noFill/>
          <a:ln w="6350">
            <a:solidFill>
              <a:srgbClr val="232320"/>
            </a:solidFill>
            <a:prstDash val="solid"/>
          </a:ln>
        </p:spPr>
      </p:sp>
      <p:sp>
        <p:nvSpPr>
          <p:cNvPr id="6" name="Shape 4"/>
          <p:cNvSpPr/>
          <p:nvPr/>
        </p:nvSpPr>
        <p:spPr>
          <a:xfrm>
            <a:off x="10972800" y="0"/>
            <a:ext cx="0" cy="6858000"/>
          </a:xfrm>
          <a:prstGeom prst="line">
            <a:avLst/>
          </a:prstGeom>
          <a:noFill/>
          <a:ln w="6350">
            <a:solidFill>
              <a:srgbClr val="232320"/>
            </a:solidFill>
            <a:prstDash val="solid"/>
          </a:ln>
        </p:spPr>
      </p:sp>
      <p:sp>
        <p:nvSpPr>
          <p:cNvPr id="7" name="Text 5"/>
          <p:cNvSpPr/>
          <p:nvPr/>
        </p:nvSpPr>
        <p:spPr>
          <a:xfrm>
            <a:off x="640080" y="548640"/>
            <a:ext cx="3657600" cy="320040"/>
          </a:xfrm>
          <a:prstGeom prst="rect">
            <a:avLst/>
          </a:prstGeom>
          <a:noFill/>
          <a:ln/>
        </p:spPr>
        <p:txBody>
          <a:bodyPr wrap="square" rtlCol="0" anchor="ctr"/>
          <a:lstStyle/>
          <a:p>
            <a:pPr marL="0" indent="0">
              <a:buNone/>
            </a:pPr>
            <a:r>
              <a:rPr lang="en-US" sz="1250" b="1" kern="0" spc="200" dirty="0">
                <a:solidFill>
                  <a:srgbClr val="C81E3A"/>
                </a:solidFill>
                <a:latin typeface="Courier New" pitchFamily="34" charset="0"/>
                <a:ea typeface="Courier New" pitchFamily="34" charset="-122"/>
                <a:cs typeface="Courier New" pitchFamily="34" charset="-120"/>
              </a:rPr>
              <a:t>ISSUE NO. 01</a:t>
            </a:r>
            <a:endParaRPr lang="en-US" sz="1250" dirty="0"/>
          </a:p>
        </p:txBody>
      </p:sp>
      <p:sp>
        <p:nvSpPr>
          <p:cNvPr id="8" name="Text 6"/>
          <p:cNvSpPr/>
          <p:nvPr/>
        </p:nvSpPr>
        <p:spPr>
          <a:xfrm>
            <a:off x="640080" y="868680"/>
            <a:ext cx="9144000" cy="457200"/>
          </a:xfrm>
          <a:prstGeom prst="rect">
            <a:avLst/>
          </a:prstGeom>
          <a:noFill/>
          <a:ln/>
        </p:spPr>
        <p:txBody>
          <a:bodyPr wrap="square" rtlCol="0" anchor="ctr"/>
          <a:lstStyle/>
          <a:p>
            <a:pPr marL="0" indent="0">
              <a:buNone/>
            </a:pPr>
            <a:r>
              <a:rPr lang="en-US" sz="1600" kern="0" spc="300" dirty="0">
                <a:solidFill>
                  <a:srgbClr val="8B8B99"/>
                </a:solidFill>
                <a:latin typeface="Courier New" pitchFamily="34" charset="0"/>
                <a:ea typeface="Courier New" pitchFamily="34" charset="-122"/>
                <a:cs typeface="Courier New" pitchFamily="34" charset="-120"/>
              </a:rPr>
              <a:t>THE RETURNS REPORT</a:t>
            </a:r>
            <a:endParaRPr lang="en-US" sz="1600" dirty="0"/>
          </a:p>
        </p:txBody>
      </p:sp>
      <p:sp>
        <p:nvSpPr>
          <p:cNvPr id="9" name="Shape 7"/>
          <p:cNvSpPr/>
          <p:nvPr/>
        </p:nvSpPr>
        <p:spPr>
          <a:xfrm rot="2700000">
            <a:off x="658368" y="2331720"/>
            <a:ext cx="310896" cy="310896"/>
          </a:xfrm>
          <a:prstGeom prst="rect">
            <a:avLst/>
          </a:prstGeom>
          <a:solidFill>
            <a:srgbClr val="C81E3A"/>
          </a:solidFill>
          <a:ln/>
        </p:spPr>
      </p:sp>
      <p:sp>
        <p:nvSpPr>
          <p:cNvPr id="10" name="Shape 8"/>
          <p:cNvSpPr/>
          <p:nvPr/>
        </p:nvSpPr>
        <p:spPr>
          <a:xfrm>
            <a:off x="770291" y="2443643"/>
            <a:ext cx="87051" cy="87051"/>
          </a:xfrm>
          <a:prstGeom prst="ellipse">
            <a:avLst/>
          </a:prstGeom>
          <a:solidFill>
            <a:srgbClr val="FFFFFF"/>
          </a:solidFill>
          <a:ln/>
        </p:spPr>
      </p:sp>
      <p:sp>
        <p:nvSpPr>
          <p:cNvPr id="11" name="Text 9"/>
          <p:cNvSpPr/>
          <p:nvPr/>
        </p:nvSpPr>
        <p:spPr>
          <a:xfrm>
            <a:off x="640080" y="2697480"/>
            <a:ext cx="10515600" cy="2606040"/>
          </a:xfrm>
          <a:prstGeom prst="rect">
            <a:avLst/>
          </a:prstGeom>
          <a:noFill/>
          <a:ln/>
        </p:spPr>
        <p:txBody>
          <a:bodyPr wrap="square" rtlCol="0" anchor="ctr"/>
          <a:lstStyle/>
          <a:p>
            <a:pPr marL="0" indent="0">
              <a:lnSpc>
                <a:spcPct val="102000"/>
              </a:lnSpc>
              <a:buNone/>
            </a:pPr>
            <a:r>
              <a:rPr lang="en-US" sz="4600" b="1" dirty="0">
                <a:solidFill>
                  <a:srgbClr val="FFFFFF"/>
                </a:solidFill>
                <a:latin typeface="Bookman Old Style" pitchFamily="34" charset="0"/>
                <a:ea typeface="Bookman Old Style" pitchFamily="34" charset="-122"/>
                <a:cs typeface="Bookman Old Style" pitchFamily="34" charset="-120"/>
              </a:rPr>
              <a:t>Where Returns Are</a:t>
            </a:r>
            <a:endParaRPr lang="en-US" sz="4600" dirty="0"/>
          </a:p>
          <a:p>
            <a:pPr marL="0" indent="0">
              <a:lnSpc>
                <a:spcPct val="102000"/>
              </a:lnSpc>
              <a:buNone/>
            </a:pPr>
            <a:r>
              <a:rPr lang="en-US" sz="4600" b="1" dirty="0">
                <a:solidFill>
                  <a:srgbClr val="FFFFFF"/>
                </a:solidFill>
                <a:latin typeface="Bookman Old Style" pitchFamily="34" charset="0"/>
                <a:ea typeface="Bookman Old Style" pitchFamily="34" charset="-122"/>
                <a:cs typeface="Bookman Old Style" pitchFamily="34" charset="-120"/>
              </a:rPr>
              <a:t>Draining Revenue —</a:t>
            </a:r>
            <a:endParaRPr lang="en-US" sz="4600" dirty="0"/>
          </a:p>
          <a:p>
            <a:pPr marL="0" indent="0">
              <a:lnSpc>
                <a:spcPct val="102000"/>
              </a:lnSpc>
              <a:buNone/>
            </a:pPr>
            <a:r>
              <a:rPr lang="en-US" sz="4600" b="1" dirty="0">
                <a:solidFill>
                  <a:srgbClr val="FFFFFF"/>
                </a:solidFill>
                <a:latin typeface="Bookman Old Style" pitchFamily="34" charset="0"/>
                <a:ea typeface="Bookman Old Style" pitchFamily="34" charset="-122"/>
                <a:cs typeface="Bookman Old Style" pitchFamily="34" charset="-120"/>
              </a:rPr>
              <a:t>and What to Do About It</a:t>
            </a:r>
            <a:endParaRPr lang="en-US" sz="4600" dirty="0"/>
          </a:p>
        </p:txBody>
      </p:sp>
      <p:sp>
        <p:nvSpPr>
          <p:cNvPr id="12" name="Text 10"/>
          <p:cNvSpPr/>
          <p:nvPr/>
        </p:nvSpPr>
        <p:spPr>
          <a:xfrm>
            <a:off x="658368" y="5074920"/>
            <a:ext cx="7498080" cy="640080"/>
          </a:xfrm>
          <a:prstGeom prst="rect">
            <a:avLst/>
          </a:prstGeom>
          <a:noFill/>
          <a:ln/>
        </p:spPr>
        <p:txBody>
          <a:bodyPr wrap="square" rtlCol="0" anchor="ctr"/>
          <a:lstStyle/>
          <a:p>
            <a:pPr marL="0" indent="0">
              <a:lnSpc>
                <a:spcPct val="130000"/>
              </a:lnSpc>
              <a:buNone/>
            </a:pPr>
            <a:r>
              <a:rPr lang="en-US" sz="1350" i="1" dirty="0">
                <a:solidFill>
                  <a:srgbClr val="C7C7CE"/>
                </a:solidFill>
                <a:latin typeface="Calibri" pitchFamily="34" charset="0"/>
                <a:ea typeface="Calibri" pitchFamily="34" charset="-122"/>
                <a:cs typeface="Calibri" pitchFamily="34" charset="-120"/>
              </a:rPr>
              <a:t>A cancellation-loss investigation into the Online Retail II dataset — two years of transactions, four analytical lenses.</a:t>
            </a:r>
            <a:endParaRPr lang="en-US" sz="1350" dirty="0"/>
          </a:p>
        </p:txBody>
      </p:sp>
      <p:sp>
        <p:nvSpPr>
          <p:cNvPr id="13" name="Shape 11"/>
          <p:cNvSpPr/>
          <p:nvPr/>
        </p:nvSpPr>
        <p:spPr>
          <a:xfrm>
            <a:off x="658368" y="5897880"/>
            <a:ext cx="10881360" cy="0"/>
          </a:xfrm>
          <a:prstGeom prst="line">
            <a:avLst/>
          </a:prstGeom>
          <a:noFill/>
          <a:ln w="9525">
            <a:solidFill>
              <a:srgbClr val="3A3A46"/>
            </a:solidFill>
            <a:prstDash val="solid"/>
          </a:ln>
        </p:spPr>
      </p:sp>
      <p:sp>
        <p:nvSpPr>
          <p:cNvPr id="14" name="Text 12"/>
          <p:cNvSpPr/>
          <p:nvPr/>
        </p:nvSpPr>
        <p:spPr>
          <a:xfrm>
            <a:off x="658368" y="6035040"/>
            <a:ext cx="10881360" cy="502920"/>
          </a:xfrm>
          <a:prstGeom prst="rect">
            <a:avLst/>
          </a:prstGeom>
          <a:noFill/>
          <a:ln/>
        </p:spPr>
        <p:txBody>
          <a:bodyPr wrap="square" rtlCol="0" anchor="ctr"/>
          <a:lstStyle/>
          <a:p>
            <a:pPr marL="0" indent="0">
              <a:lnSpc>
                <a:spcPct val="130000"/>
              </a:lnSpc>
              <a:buNone/>
            </a:pPr>
            <a:r>
              <a:rPr lang="en-US" sz="1050" b="1" dirty="0">
                <a:solidFill>
                  <a:srgbClr val="6E6E7A"/>
                </a:solidFill>
                <a:latin typeface="Courier New" pitchFamily="34" charset="0"/>
                <a:ea typeface="Courier New" pitchFamily="34" charset="-122"/>
                <a:cs typeface="Courier New" pitchFamily="34" charset="-120"/>
              </a:rPr>
              <a:t>REPORTED BY   </a:t>
            </a:r>
            <a:r>
              <a:rPr lang="en-US" sz="1050" dirty="0">
                <a:solidFill>
                  <a:srgbClr val="C7C7CE"/>
                </a:solidFill>
                <a:latin typeface="Courier New" pitchFamily="34" charset="0"/>
                <a:ea typeface="Courier New" pitchFamily="34" charset="-122"/>
                <a:cs typeface="Courier New" pitchFamily="34" charset="-120"/>
              </a:rPr>
              <a:t>Sandra Raj Pattuvakkaran (Geography &amp; Time)   ·   Renato Silva (Customer)   ·   Okah Ahone Ebwekoh (Product)   ·   Sudarsh Mekkampurath Sajeev (Support)</a:t>
            </a:r>
            <a:endParaRPr lang="en-US" sz="1050" dirty="0"/>
          </a:p>
        </p:txBody>
      </p:sp>
      <p:sp>
        <p:nvSpPr>
          <p:cNvPr id="15" name="Text 13"/>
          <p:cNvSpPr/>
          <p:nvPr/>
        </p:nvSpPr>
        <p:spPr>
          <a:xfrm>
            <a:off x="658368" y="6510528"/>
            <a:ext cx="9144000" cy="274320"/>
          </a:xfrm>
          <a:prstGeom prst="rect">
            <a:avLst/>
          </a:prstGeom>
          <a:noFill/>
          <a:ln/>
        </p:spPr>
        <p:txBody>
          <a:bodyPr wrap="square" rtlCol="0" anchor="ctr"/>
          <a:lstStyle/>
          <a:p>
            <a:pPr marL="0" indent="0">
              <a:buNone/>
            </a:pPr>
            <a:r>
              <a:rPr lang="en-US" sz="850" kern="0" spc="100" dirty="0">
                <a:solidFill>
                  <a:srgbClr val="6E6E7A"/>
                </a:solidFill>
                <a:latin typeface="Courier New" pitchFamily="34" charset="0"/>
                <a:ea typeface="Courier New" pitchFamily="34" charset="-122"/>
                <a:cs typeface="Courier New" pitchFamily="34" charset="-120"/>
              </a:rPr>
              <a:t>DATA SCIENCE AND BUSINESS  ·  DR. EMAN ABUKHOUSA  ·  JULY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00  </a:t>
            </a:r>
            <a:r>
              <a:rPr lang="en-US" sz="1250" kern="0" spc="100" dirty="0">
                <a:solidFill>
                  <a:srgbClr val="5C5C54"/>
                </a:solidFill>
                <a:latin typeface="Courier New" pitchFamily="34" charset="0"/>
                <a:ea typeface="Courier New" pitchFamily="34" charset="-122"/>
                <a:cs typeface="Courier New" pitchFamily="34" charset="-120"/>
              </a:rPr>
              <a:t>— THE BUSINESS PROBLEM</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3000" b="1" dirty="0">
                <a:solidFill>
                  <a:srgbClr val="141412"/>
                </a:solidFill>
                <a:latin typeface="Bookman Old Style" pitchFamily="34" charset="0"/>
                <a:ea typeface="Bookman Old Style" pitchFamily="34" charset="-122"/>
                <a:cs typeface="Bookman Old Style" pitchFamily="34" charset="-120"/>
              </a:rPr>
              <a:t>Cancellations Are Already Costing Real Money</a:t>
            </a:r>
            <a:endParaRPr lang="en-US" sz="3000" dirty="0"/>
          </a:p>
        </p:txBody>
      </p:sp>
      <p:sp>
        <p:nvSpPr>
          <p:cNvPr id="4" name="Text 2"/>
          <p:cNvSpPr/>
          <p:nvPr/>
        </p:nvSpPr>
        <p:spPr>
          <a:xfrm>
            <a:off x="502920" y="1691640"/>
            <a:ext cx="3474720" cy="777240"/>
          </a:xfrm>
          <a:prstGeom prst="rect">
            <a:avLst/>
          </a:prstGeom>
          <a:noFill/>
          <a:ln/>
        </p:spPr>
        <p:txBody>
          <a:bodyPr wrap="square" rtlCol="0" anchor="ctr"/>
          <a:lstStyle/>
          <a:p>
            <a:pPr marL="0" indent="0">
              <a:buNone/>
            </a:pPr>
            <a:r>
              <a:rPr lang="en-US" sz="3800" b="1" dirty="0">
                <a:solidFill>
                  <a:srgbClr val="C81E3A"/>
                </a:solidFill>
                <a:latin typeface="Bookman Old Style" pitchFamily="34" charset="0"/>
                <a:ea typeface="Bookman Old Style" pitchFamily="34" charset="-122"/>
                <a:cs typeface="Bookman Old Style" pitchFamily="34" charset="-120"/>
              </a:rPr>
              <a:t>£1.26M</a:t>
            </a:r>
            <a:endParaRPr lang="en-US" sz="3800" dirty="0"/>
          </a:p>
        </p:txBody>
      </p:sp>
      <p:sp>
        <p:nvSpPr>
          <p:cNvPr id="5" name="Text 3"/>
          <p:cNvSpPr/>
          <p:nvPr/>
        </p:nvSpPr>
        <p:spPr>
          <a:xfrm>
            <a:off x="502920" y="2450592"/>
            <a:ext cx="3337560" cy="685800"/>
          </a:xfrm>
          <a:prstGeom prst="rect">
            <a:avLst/>
          </a:prstGeom>
          <a:noFill/>
          <a:ln/>
        </p:spPr>
        <p:txBody>
          <a:bodyPr wrap="square" rtlCol="0" anchor="ctr"/>
          <a:lstStyle/>
          <a:p>
            <a:pPr marL="0" indent="0">
              <a:lnSpc>
                <a:spcPct val="120000"/>
              </a:lnSpc>
              <a:buNone/>
            </a:pPr>
            <a:r>
              <a:rPr lang="en-US" sz="1100" dirty="0">
                <a:solidFill>
                  <a:srgbClr val="5C5C54"/>
                </a:solidFill>
                <a:latin typeface="Calibri" pitchFamily="34" charset="0"/>
                <a:ea typeface="Calibri" pitchFamily="34" charset="-122"/>
                <a:cs typeface="Calibri" pitchFamily="34" charset="-120"/>
              </a:rPr>
              <a:t>total cancellation loss, top 10 countries, over two years</a:t>
            </a:r>
            <a:endParaRPr lang="en-US" sz="1100" dirty="0"/>
          </a:p>
        </p:txBody>
      </p:sp>
      <p:sp>
        <p:nvSpPr>
          <p:cNvPr id="6" name="Shape 4"/>
          <p:cNvSpPr/>
          <p:nvPr/>
        </p:nvSpPr>
        <p:spPr>
          <a:xfrm>
            <a:off x="4023360" y="1691640"/>
            <a:ext cx="0" cy="1417320"/>
          </a:xfrm>
          <a:prstGeom prst="line">
            <a:avLst/>
          </a:prstGeom>
          <a:noFill/>
          <a:ln w="9525">
            <a:solidFill>
              <a:srgbClr val="D6D4C8"/>
            </a:solidFill>
            <a:prstDash val="solid"/>
          </a:ln>
        </p:spPr>
      </p:sp>
      <p:sp>
        <p:nvSpPr>
          <p:cNvPr id="7" name="Text 5"/>
          <p:cNvSpPr/>
          <p:nvPr/>
        </p:nvSpPr>
        <p:spPr>
          <a:xfrm>
            <a:off x="4160520" y="1691640"/>
            <a:ext cx="3474720" cy="777240"/>
          </a:xfrm>
          <a:prstGeom prst="rect">
            <a:avLst/>
          </a:prstGeom>
          <a:noFill/>
          <a:ln/>
        </p:spPr>
        <p:txBody>
          <a:bodyPr wrap="square" rtlCol="0" anchor="ctr"/>
          <a:lstStyle/>
          <a:p>
            <a:pPr marL="0" indent="0">
              <a:buNone/>
            </a:pPr>
            <a:r>
              <a:rPr lang="en-US" sz="3200" b="1" dirty="0">
                <a:solidFill>
                  <a:srgbClr val="141412"/>
                </a:solidFill>
                <a:latin typeface="Bookman Old Style" pitchFamily="34" charset="0"/>
                <a:ea typeface="Bookman Old Style" pitchFamily="34" charset="-122"/>
                <a:cs typeface="Bookman Old Style" pitchFamily="34" charset="-120"/>
              </a:rPr>
              <a:t>£1.1M</a:t>
            </a:r>
            <a:endParaRPr lang="en-US" sz="3200" dirty="0"/>
          </a:p>
        </p:txBody>
      </p:sp>
      <p:sp>
        <p:nvSpPr>
          <p:cNvPr id="8" name="Text 6"/>
          <p:cNvSpPr/>
          <p:nvPr/>
        </p:nvSpPr>
        <p:spPr>
          <a:xfrm>
            <a:off x="4160520" y="2450592"/>
            <a:ext cx="3337560" cy="685800"/>
          </a:xfrm>
          <a:prstGeom prst="rect">
            <a:avLst/>
          </a:prstGeom>
          <a:noFill/>
          <a:ln/>
        </p:spPr>
        <p:txBody>
          <a:bodyPr wrap="square" rtlCol="0" anchor="ctr"/>
          <a:lstStyle/>
          <a:p>
            <a:pPr marL="0" indent="0">
              <a:lnSpc>
                <a:spcPct val="120000"/>
              </a:lnSpc>
              <a:buNone/>
            </a:pPr>
            <a:r>
              <a:rPr lang="en-US" sz="1100" dirty="0">
                <a:solidFill>
                  <a:srgbClr val="5C5C54"/>
                </a:solidFill>
                <a:latin typeface="Calibri" pitchFamily="34" charset="0"/>
                <a:ea typeface="Calibri" pitchFamily="34" charset="-122"/>
                <a:cs typeface="Calibri" pitchFamily="34" charset="-120"/>
              </a:rPr>
              <a:t>of that is the UK alone — 85% of total loss</a:t>
            </a:r>
            <a:endParaRPr lang="en-US" sz="1100" dirty="0"/>
          </a:p>
        </p:txBody>
      </p:sp>
      <p:sp>
        <p:nvSpPr>
          <p:cNvPr id="9" name="Shape 7"/>
          <p:cNvSpPr/>
          <p:nvPr/>
        </p:nvSpPr>
        <p:spPr>
          <a:xfrm>
            <a:off x="7680960" y="1691640"/>
            <a:ext cx="0" cy="1417320"/>
          </a:xfrm>
          <a:prstGeom prst="line">
            <a:avLst/>
          </a:prstGeom>
          <a:noFill/>
          <a:ln w="9525">
            <a:solidFill>
              <a:srgbClr val="D6D4C8"/>
            </a:solidFill>
            <a:prstDash val="solid"/>
          </a:ln>
        </p:spPr>
      </p:sp>
      <p:sp>
        <p:nvSpPr>
          <p:cNvPr id="10" name="Text 8"/>
          <p:cNvSpPr/>
          <p:nvPr/>
        </p:nvSpPr>
        <p:spPr>
          <a:xfrm>
            <a:off x="7818120" y="1691640"/>
            <a:ext cx="3474720" cy="777240"/>
          </a:xfrm>
          <a:prstGeom prst="rect">
            <a:avLst/>
          </a:prstGeom>
          <a:noFill/>
          <a:ln/>
        </p:spPr>
        <p:txBody>
          <a:bodyPr wrap="square" rtlCol="0" anchor="ctr"/>
          <a:lstStyle/>
          <a:p>
            <a:pPr marL="0" indent="0">
              <a:buNone/>
            </a:pPr>
            <a:r>
              <a:rPr lang="en-US" sz="3200" b="1" dirty="0">
                <a:solidFill>
                  <a:srgbClr val="141412"/>
                </a:solidFill>
                <a:latin typeface="Bookman Old Style" pitchFamily="34" charset="0"/>
                <a:ea typeface="Bookman Old Style" pitchFamily="34" charset="-122"/>
                <a:cs typeface="Bookman Old Style" pitchFamily="34" charset="-120"/>
              </a:rPr>
              <a:t>1,048,576</a:t>
            </a:r>
            <a:endParaRPr lang="en-US" sz="3200" dirty="0"/>
          </a:p>
        </p:txBody>
      </p:sp>
      <p:sp>
        <p:nvSpPr>
          <p:cNvPr id="11" name="Text 9"/>
          <p:cNvSpPr/>
          <p:nvPr/>
        </p:nvSpPr>
        <p:spPr>
          <a:xfrm>
            <a:off x="7818120" y="2450592"/>
            <a:ext cx="3337560" cy="685800"/>
          </a:xfrm>
          <a:prstGeom prst="rect">
            <a:avLst/>
          </a:prstGeom>
          <a:noFill/>
          <a:ln/>
        </p:spPr>
        <p:txBody>
          <a:bodyPr wrap="square" rtlCol="0" anchor="ctr"/>
          <a:lstStyle/>
          <a:p>
            <a:pPr marL="0" indent="0">
              <a:lnSpc>
                <a:spcPct val="120000"/>
              </a:lnSpc>
              <a:buNone/>
            </a:pPr>
            <a:r>
              <a:rPr lang="en-US" sz="1100" dirty="0">
                <a:solidFill>
                  <a:srgbClr val="5C5C54"/>
                </a:solidFill>
                <a:latin typeface="Calibri" pitchFamily="34" charset="0"/>
                <a:ea typeface="Calibri" pitchFamily="34" charset="-122"/>
                <a:cs typeface="Calibri" pitchFamily="34" charset="-120"/>
              </a:rPr>
              <a:t>transaction rows — one cancellation is invisible on its own</a:t>
            </a:r>
            <a:endParaRPr lang="en-US" sz="1100" dirty="0"/>
          </a:p>
        </p:txBody>
      </p:sp>
      <p:sp>
        <p:nvSpPr>
          <p:cNvPr id="12" name="Shape 10"/>
          <p:cNvSpPr/>
          <p:nvPr/>
        </p:nvSpPr>
        <p:spPr>
          <a:xfrm>
            <a:off x="502920" y="3401568"/>
            <a:ext cx="11201400" cy="0"/>
          </a:xfrm>
          <a:prstGeom prst="line">
            <a:avLst/>
          </a:prstGeom>
          <a:noFill/>
          <a:ln w="9525">
            <a:solidFill>
              <a:srgbClr val="D6D4C8"/>
            </a:solidFill>
            <a:prstDash val="solid"/>
          </a:ln>
        </p:spPr>
      </p:sp>
      <p:sp>
        <p:nvSpPr>
          <p:cNvPr id="13" name="Text 11"/>
          <p:cNvSpPr/>
          <p:nvPr/>
        </p:nvSpPr>
        <p:spPr>
          <a:xfrm>
            <a:off x="502920" y="3657600"/>
            <a:ext cx="11155680" cy="960120"/>
          </a:xfrm>
          <a:prstGeom prst="rect">
            <a:avLst/>
          </a:prstGeom>
          <a:noFill/>
          <a:ln/>
        </p:spPr>
        <p:txBody>
          <a:bodyPr wrap="square" rtlCol="0" anchor="ctr"/>
          <a:lstStyle/>
          <a:p>
            <a:pPr marL="0" indent="0">
              <a:lnSpc>
                <a:spcPct val="135000"/>
              </a:lnSpc>
              <a:buNone/>
            </a:pPr>
            <a:r>
              <a:rPr lang="en-US" sz="1550" i="1" dirty="0">
                <a:solidFill>
                  <a:srgbClr val="141412"/>
                </a:solidFill>
                <a:latin typeface="Calibri" pitchFamily="34" charset="0"/>
                <a:ea typeface="Calibri" pitchFamily="34" charset="-122"/>
                <a:cs typeface="Calibri" pitchFamily="34" charset="-120"/>
              </a:rPr>
              <a:t>With over a million rows of sales alone, this issue is easy to ignore — a single cancellation is just one line among a million. That is exactly how losses like this build up unnoticed, until someone deliberately goes looking.</a:t>
            </a:r>
            <a:endParaRPr lang="en-US" sz="1550" dirty="0"/>
          </a:p>
        </p:txBody>
      </p:sp>
      <p:sp>
        <p:nvSpPr>
          <p:cNvPr id="14" name="Shape 12"/>
          <p:cNvSpPr/>
          <p:nvPr/>
        </p:nvSpPr>
        <p:spPr>
          <a:xfrm>
            <a:off x="502920" y="4800600"/>
            <a:ext cx="50292" cy="1417320"/>
          </a:xfrm>
          <a:prstGeom prst="rect">
            <a:avLst/>
          </a:prstGeom>
          <a:solidFill>
            <a:srgbClr val="C81E3A"/>
          </a:solidFill>
          <a:ln/>
        </p:spPr>
      </p:sp>
      <p:sp>
        <p:nvSpPr>
          <p:cNvPr id="15" name="Text 13"/>
          <p:cNvSpPr/>
          <p:nvPr/>
        </p:nvSpPr>
        <p:spPr>
          <a:xfrm>
            <a:off x="758952" y="4800600"/>
            <a:ext cx="1089964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TO BRING VISIBILITY TO THIS ISSUE</a:t>
            </a:r>
            <a:endParaRPr lang="en-US" sz="1050" dirty="0"/>
          </a:p>
        </p:txBody>
      </p:sp>
      <p:sp>
        <p:nvSpPr>
          <p:cNvPr id="16" name="Text 14"/>
          <p:cNvSpPr/>
          <p:nvPr/>
        </p:nvSpPr>
        <p:spPr>
          <a:xfrm>
            <a:off x="758952" y="5129784"/>
            <a:ext cx="10881360" cy="1051560"/>
          </a:xfrm>
          <a:prstGeom prst="rect">
            <a:avLst/>
          </a:prstGeom>
          <a:noFill/>
          <a:ln/>
        </p:spPr>
        <p:txBody>
          <a:bodyPr wrap="square" rtlCol="0" anchor="ctr"/>
          <a:lstStyle/>
          <a:p>
            <a:pPr marL="0" indent="0">
              <a:lnSpc>
                <a:spcPct val="128000"/>
              </a:lnSpc>
              <a:buNone/>
            </a:pPr>
            <a:r>
              <a:rPr lang="en-US" sz="1600" dirty="0">
                <a:solidFill>
                  <a:srgbClr val="141412"/>
                </a:solidFill>
                <a:latin typeface="Calibri" pitchFamily="34" charset="0"/>
                <a:ea typeface="Calibri" pitchFamily="34" charset="-122"/>
                <a:cs typeface="Calibri" pitchFamily="34" charset="-120"/>
              </a:rPr>
              <a:t>We look at cancellations through four lenses — </a:t>
            </a:r>
            <a:r>
              <a:rPr lang="en-US" sz="1600" b="1" dirty="0">
                <a:solidFill>
                  <a:srgbClr val="C81E3A"/>
                </a:solidFill>
                <a:latin typeface="Calibri" pitchFamily="34" charset="0"/>
                <a:ea typeface="Calibri" pitchFamily="34" charset="-122"/>
                <a:cs typeface="Calibri" pitchFamily="34" charset="-120"/>
              </a:rPr>
              <a:t>Geography, Time, Customers, and Products</a:t>
            </a:r>
            <a:r>
              <a:rPr lang="en-US" sz="1600" dirty="0">
                <a:solidFill>
                  <a:srgbClr val="141412"/>
                </a:solidFill>
                <a:latin typeface="Calibri" pitchFamily="34" charset="0"/>
                <a:ea typeface="Calibri" pitchFamily="34" charset="-122"/>
                <a:cs typeface="Calibri" pitchFamily="34" charset="-120"/>
              </a:rPr>
              <a:t> — to find where the money is actually being lost, and what's driving it.</a:t>
            </a:r>
            <a:endParaRPr lang="en-US" sz="1600" dirty="0"/>
          </a:p>
        </p:txBody>
      </p:sp>
      <p:sp>
        <p:nvSpPr>
          <p:cNvPr id="17" name="Shape 15"/>
          <p:cNvSpPr/>
          <p:nvPr/>
        </p:nvSpPr>
        <p:spPr>
          <a:xfrm>
            <a:off x="457200" y="6355080"/>
            <a:ext cx="11277295" cy="0"/>
          </a:xfrm>
          <a:prstGeom prst="line">
            <a:avLst/>
          </a:prstGeom>
          <a:noFill/>
          <a:ln w="9525">
            <a:solidFill>
              <a:srgbClr val="D6D4C8"/>
            </a:solidFill>
            <a:prstDash val="solid"/>
          </a:ln>
        </p:spPr>
      </p:sp>
      <p:sp>
        <p:nvSpPr>
          <p:cNvPr id="18" name="Text 16"/>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9" name="Text 17"/>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02 / 14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00  </a:t>
            </a:r>
            <a:r>
              <a:rPr lang="en-US" sz="1250" kern="0" spc="100" dirty="0">
                <a:solidFill>
                  <a:srgbClr val="5C5C54"/>
                </a:solidFill>
                <a:latin typeface="Courier New" pitchFamily="34" charset="0"/>
                <a:ea typeface="Courier New" pitchFamily="34" charset="-122"/>
                <a:cs typeface="Courier New" pitchFamily="34" charset="-120"/>
              </a:rPr>
              <a:t>— METHODOLOGY</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3000" b="1" dirty="0">
                <a:solidFill>
                  <a:srgbClr val="141412"/>
                </a:solidFill>
                <a:latin typeface="Bookman Old Style" pitchFamily="34" charset="0"/>
                <a:ea typeface="Bookman Old Style" pitchFamily="34" charset="-122"/>
                <a:cs typeface="Bookman Old Style" pitchFamily="34" charset="-120"/>
              </a:rPr>
              <a:t>One Dataset, Four Lenses</a:t>
            </a:r>
            <a:endParaRPr lang="en-US" sz="3000" dirty="0"/>
          </a:p>
        </p:txBody>
      </p:sp>
      <p:sp>
        <p:nvSpPr>
          <p:cNvPr id="4" name="Text 2"/>
          <p:cNvSpPr/>
          <p:nvPr/>
        </p:nvSpPr>
        <p:spPr>
          <a:xfrm>
            <a:off x="502920" y="1554480"/>
            <a:ext cx="5212080" cy="274320"/>
          </a:xfrm>
          <a:prstGeom prst="rect">
            <a:avLst/>
          </a:prstGeom>
          <a:noFill/>
          <a:ln/>
        </p:spPr>
        <p:txBody>
          <a:bodyPr wrap="square" rtlCol="0" anchor="ctr"/>
          <a:lstStyle/>
          <a:p>
            <a:pPr marL="0" indent="0">
              <a:buNone/>
            </a:pPr>
            <a:r>
              <a:rPr lang="en-US" sz="1200" b="1" kern="0" spc="100" dirty="0">
                <a:solidFill>
                  <a:srgbClr val="9C7A4F"/>
                </a:solidFill>
                <a:latin typeface="Courier New" pitchFamily="34" charset="0"/>
                <a:ea typeface="Courier New" pitchFamily="34" charset="-122"/>
                <a:cs typeface="Courier New" pitchFamily="34" charset="-120"/>
              </a:rPr>
              <a:t>THE DATA</a:t>
            </a:r>
            <a:endParaRPr lang="en-US" sz="1200" dirty="0"/>
          </a:p>
        </p:txBody>
      </p:sp>
      <p:sp>
        <p:nvSpPr>
          <p:cNvPr id="5" name="Text 3"/>
          <p:cNvSpPr/>
          <p:nvPr/>
        </p:nvSpPr>
        <p:spPr>
          <a:xfrm>
            <a:off x="502920" y="1901952"/>
            <a:ext cx="5212080" cy="2743200"/>
          </a:xfrm>
          <a:prstGeom prst="rect">
            <a:avLst/>
          </a:prstGeom>
          <a:noFill/>
          <a:ln/>
        </p:spPr>
        <p:txBody>
          <a:bodyPr wrap="square" rtlCol="0" anchor="ctr"/>
          <a:lstStyle/>
          <a:p>
            <a:pPr marL="0" indent="0">
              <a:lnSpc>
                <a:spcPct val="140000"/>
              </a:lnSpc>
              <a:buNone/>
            </a:pPr>
            <a:r>
              <a:rPr lang="en-US" sz="1250" b="1" dirty="0">
                <a:solidFill>
                  <a:srgbClr val="141412"/>
                </a:solidFill>
                <a:latin typeface="Calibri" pitchFamily="34" charset="0"/>
                <a:ea typeface="Calibri" pitchFamily="34" charset="-122"/>
                <a:cs typeface="Calibri" pitchFamily="34" charset="-120"/>
              </a:rPr>
              <a:t>Online Retail II (UCI)  </a:t>
            </a:r>
            <a:r>
              <a:rPr lang="en-US" sz="1250" dirty="0">
                <a:solidFill>
                  <a:srgbClr val="5C5C54"/>
                </a:solidFill>
                <a:latin typeface="Calibri" pitchFamily="34" charset="0"/>
                <a:ea typeface="Calibri" pitchFamily="34" charset="-122"/>
                <a:cs typeface="Calibri" pitchFamily="34" charset="-120"/>
              </a:rPr>
              <a:t>— UK-based online retailer, Dec 2009–Dec 2011
</a:t>
            </a:r>
            <a:r>
              <a:rPr lang="en-US" sz="1250" b="1" dirty="0">
                <a:solidFill>
                  <a:srgbClr val="141412"/>
                </a:solidFill>
                <a:latin typeface="Calibri" pitchFamily="34" charset="0"/>
                <a:ea typeface="Calibri" pitchFamily="34" charset="-122"/>
                <a:cs typeface="Calibri" pitchFamily="34" charset="-120"/>
              </a:rPr>
              <a:t>1,048,576 rows  </a:t>
            </a:r>
            <a:r>
              <a:rPr lang="en-US" sz="1250" dirty="0">
                <a:solidFill>
                  <a:srgbClr val="5C5C54"/>
                </a:solidFill>
                <a:latin typeface="Calibri" pitchFamily="34" charset="0"/>
                <a:ea typeface="Calibri" pitchFamily="34" charset="-122"/>
                <a:cs typeface="Calibri" pitchFamily="34" charset="-120"/>
              </a:rPr>
              <a:t>across Invoice, StockCode, Description, Quantity, Date, Price, CustomerID, Country
</a:t>
            </a:r>
            <a:r>
              <a:rPr lang="en-US" sz="1250" b="1" dirty="0">
                <a:solidFill>
                  <a:srgbClr val="141412"/>
                </a:solidFill>
                <a:latin typeface="Calibri" pitchFamily="34" charset="0"/>
                <a:ea typeface="Calibri" pitchFamily="34" charset="-122"/>
                <a:cs typeface="Calibri" pitchFamily="34" charset="-120"/>
              </a:rPr>
              <a:t>Cancellations directly observable  </a:t>
            </a:r>
            <a:r>
              <a:rPr lang="en-US" sz="1250" dirty="0">
                <a:solidFill>
                  <a:srgbClr val="5C5C54"/>
                </a:solidFill>
                <a:latin typeface="Calibri" pitchFamily="34" charset="0"/>
                <a:ea typeface="Calibri" pitchFamily="34" charset="-122"/>
                <a:cs typeface="Calibri" pitchFamily="34" charset="-120"/>
              </a:rPr>
              <a:t>— invoice numbers starting “C”, paired with negative quantity. </a:t>
            </a:r>
            <a:endParaRPr lang="en-US" sz="1250" dirty="0"/>
          </a:p>
        </p:txBody>
      </p:sp>
      <p:sp>
        <p:nvSpPr>
          <p:cNvPr id="6" name="Shape 4"/>
          <p:cNvSpPr/>
          <p:nvPr/>
        </p:nvSpPr>
        <p:spPr>
          <a:xfrm>
            <a:off x="5989320" y="1554480"/>
            <a:ext cx="0" cy="4434840"/>
          </a:xfrm>
          <a:prstGeom prst="line">
            <a:avLst/>
          </a:prstGeom>
          <a:noFill/>
          <a:ln w="9525">
            <a:solidFill>
              <a:srgbClr val="D6D4C8"/>
            </a:solidFill>
            <a:prstDash val="solid"/>
          </a:ln>
        </p:spPr>
      </p:sp>
      <p:sp>
        <p:nvSpPr>
          <p:cNvPr id="7" name="Text 5"/>
          <p:cNvSpPr/>
          <p:nvPr/>
        </p:nvSpPr>
        <p:spPr>
          <a:xfrm>
            <a:off x="6355080" y="1682496"/>
            <a:ext cx="534924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01  </a:t>
            </a:r>
            <a:r>
              <a:rPr lang="en-US" sz="1500" b="1" dirty="0">
                <a:solidFill>
                  <a:srgbClr val="141412"/>
                </a:solidFill>
                <a:latin typeface="Bookman Old Style" pitchFamily="34" charset="0"/>
                <a:ea typeface="Bookman Old Style" pitchFamily="34" charset="-122"/>
                <a:cs typeface="Bookman Old Style" pitchFamily="34" charset="-120"/>
              </a:rPr>
              <a:t>Geographic   </a:t>
            </a:r>
            <a:r>
              <a:rPr lang="en-US" sz="1050" dirty="0">
                <a:solidFill>
                  <a:srgbClr val="5C5C54"/>
                </a:solidFill>
                <a:latin typeface="Courier New" pitchFamily="34" charset="0"/>
                <a:ea typeface="Courier New" pitchFamily="34" charset="-122"/>
                <a:cs typeface="Courier New" pitchFamily="34" charset="-120"/>
              </a:rPr>
              <a:t>· Comparative rate analysis</a:t>
            </a:r>
            <a:endParaRPr lang="en-US" sz="1200" dirty="0"/>
          </a:p>
        </p:txBody>
      </p:sp>
      <p:sp>
        <p:nvSpPr>
          <p:cNvPr id="8" name="Text 6"/>
          <p:cNvSpPr/>
          <p:nvPr/>
        </p:nvSpPr>
        <p:spPr>
          <a:xfrm>
            <a:off x="6355080" y="2029968"/>
            <a:ext cx="5349240" cy="502920"/>
          </a:xfrm>
          <a:prstGeom prst="rect">
            <a:avLst/>
          </a:prstGeom>
          <a:noFill/>
          <a:ln/>
        </p:spPr>
        <p:txBody>
          <a:bodyPr wrap="square" rtlCol="0" anchor="ctr"/>
          <a:lstStyle/>
          <a:p>
            <a:pPr marL="0" indent="0">
              <a:lnSpc>
                <a:spcPct val="115000"/>
              </a:lnSpc>
              <a:buNone/>
            </a:pPr>
            <a:r>
              <a:rPr lang="en-US" sz="1200" i="1" dirty="0">
                <a:solidFill>
                  <a:srgbClr val="141412"/>
                </a:solidFill>
                <a:latin typeface="Calibri" pitchFamily="34" charset="0"/>
                <a:ea typeface="Calibri" pitchFamily="34" charset="-122"/>
                <a:cs typeface="Calibri" pitchFamily="34" charset="-120"/>
              </a:rPr>
              <a:t>Are losses concentrated in specific countries?</a:t>
            </a:r>
            <a:endParaRPr lang="en-US" sz="1200" dirty="0"/>
          </a:p>
        </p:txBody>
      </p:sp>
      <p:sp>
        <p:nvSpPr>
          <p:cNvPr id="9" name="Shape 7"/>
          <p:cNvSpPr/>
          <p:nvPr/>
        </p:nvSpPr>
        <p:spPr>
          <a:xfrm>
            <a:off x="6355080" y="2651760"/>
            <a:ext cx="5349240" cy="0"/>
          </a:xfrm>
          <a:prstGeom prst="line">
            <a:avLst/>
          </a:prstGeom>
          <a:noFill/>
          <a:ln w="6350">
            <a:solidFill>
              <a:srgbClr val="D6D4C8"/>
            </a:solidFill>
            <a:prstDash val="solid"/>
          </a:ln>
        </p:spPr>
      </p:sp>
      <p:sp>
        <p:nvSpPr>
          <p:cNvPr id="10" name="Text 8"/>
          <p:cNvSpPr/>
          <p:nvPr/>
        </p:nvSpPr>
        <p:spPr>
          <a:xfrm>
            <a:off x="6355080" y="2779776"/>
            <a:ext cx="534924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02  </a:t>
            </a:r>
            <a:r>
              <a:rPr lang="en-US" sz="1500" b="1" dirty="0">
                <a:solidFill>
                  <a:srgbClr val="141412"/>
                </a:solidFill>
                <a:latin typeface="Bookman Old Style" pitchFamily="34" charset="0"/>
                <a:ea typeface="Bookman Old Style" pitchFamily="34" charset="-122"/>
                <a:cs typeface="Bookman Old Style" pitchFamily="34" charset="-120"/>
              </a:rPr>
              <a:t>Temporal   </a:t>
            </a:r>
            <a:r>
              <a:rPr lang="en-US" sz="1050" dirty="0">
                <a:solidFill>
                  <a:srgbClr val="5C5C54"/>
                </a:solidFill>
                <a:latin typeface="Courier New" pitchFamily="34" charset="0"/>
                <a:ea typeface="Courier New" pitchFamily="34" charset="-122"/>
                <a:cs typeface="Courier New" pitchFamily="34" charset="-120"/>
              </a:rPr>
              <a:t>· Monthly / quarterly trend analysis</a:t>
            </a:r>
            <a:endParaRPr lang="en-US" sz="1200" dirty="0"/>
          </a:p>
        </p:txBody>
      </p:sp>
      <p:sp>
        <p:nvSpPr>
          <p:cNvPr id="11" name="Text 9"/>
          <p:cNvSpPr/>
          <p:nvPr/>
        </p:nvSpPr>
        <p:spPr>
          <a:xfrm>
            <a:off x="6355080" y="3127248"/>
            <a:ext cx="5349240" cy="502920"/>
          </a:xfrm>
          <a:prstGeom prst="rect">
            <a:avLst/>
          </a:prstGeom>
          <a:noFill/>
          <a:ln/>
        </p:spPr>
        <p:txBody>
          <a:bodyPr wrap="square" rtlCol="0" anchor="ctr"/>
          <a:lstStyle/>
          <a:p>
            <a:pPr marL="0" indent="0">
              <a:lnSpc>
                <a:spcPct val="115000"/>
              </a:lnSpc>
              <a:buNone/>
            </a:pPr>
            <a:r>
              <a:rPr lang="en-US" sz="1200" i="1" dirty="0">
                <a:solidFill>
                  <a:srgbClr val="141412"/>
                </a:solidFill>
                <a:latin typeface="Calibri" pitchFamily="34" charset="0"/>
                <a:ea typeface="Calibri" pitchFamily="34" charset="-122"/>
                <a:cs typeface="Calibri" pitchFamily="34" charset="-120"/>
              </a:rPr>
              <a:t>Do losses spike at specific times of year?</a:t>
            </a:r>
            <a:endParaRPr lang="en-US" sz="1200" dirty="0"/>
          </a:p>
        </p:txBody>
      </p:sp>
      <p:sp>
        <p:nvSpPr>
          <p:cNvPr id="12" name="Shape 10"/>
          <p:cNvSpPr/>
          <p:nvPr/>
        </p:nvSpPr>
        <p:spPr>
          <a:xfrm>
            <a:off x="6355080" y="3749040"/>
            <a:ext cx="5349240" cy="0"/>
          </a:xfrm>
          <a:prstGeom prst="line">
            <a:avLst/>
          </a:prstGeom>
          <a:noFill/>
          <a:ln w="6350">
            <a:solidFill>
              <a:srgbClr val="D6D4C8"/>
            </a:solidFill>
            <a:prstDash val="solid"/>
          </a:ln>
        </p:spPr>
      </p:sp>
      <p:sp>
        <p:nvSpPr>
          <p:cNvPr id="13" name="Text 11"/>
          <p:cNvSpPr/>
          <p:nvPr/>
        </p:nvSpPr>
        <p:spPr>
          <a:xfrm>
            <a:off x="6355080" y="3877056"/>
            <a:ext cx="534924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03  </a:t>
            </a:r>
            <a:r>
              <a:rPr lang="en-US" sz="1500" b="1" dirty="0">
                <a:solidFill>
                  <a:srgbClr val="141412"/>
                </a:solidFill>
                <a:latin typeface="Bookman Old Style" pitchFamily="34" charset="0"/>
                <a:ea typeface="Bookman Old Style" pitchFamily="34" charset="-122"/>
                <a:cs typeface="Bookman Old Style" pitchFamily="34" charset="-120"/>
              </a:rPr>
              <a:t>Customer   </a:t>
            </a:r>
            <a:r>
              <a:rPr lang="en-US" sz="1050" dirty="0">
                <a:solidFill>
                  <a:srgbClr val="5C5C54"/>
                </a:solidFill>
                <a:latin typeface="Courier New" pitchFamily="34" charset="0"/>
                <a:ea typeface="Courier New" pitchFamily="34" charset="-122"/>
                <a:cs typeface="Courier New" pitchFamily="34" charset="-120"/>
              </a:rPr>
              <a:t>· RFMR scoring + Spearman correlation</a:t>
            </a:r>
            <a:endParaRPr lang="en-US" sz="1200" dirty="0"/>
          </a:p>
        </p:txBody>
      </p:sp>
      <p:sp>
        <p:nvSpPr>
          <p:cNvPr id="14" name="Text 12"/>
          <p:cNvSpPr/>
          <p:nvPr/>
        </p:nvSpPr>
        <p:spPr>
          <a:xfrm>
            <a:off x="6355080" y="4224528"/>
            <a:ext cx="5349240" cy="502920"/>
          </a:xfrm>
          <a:prstGeom prst="rect">
            <a:avLst/>
          </a:prstGeom>
          <a:noFill/>
          <a:ln/>
        </p:spPr>
        <p:txBody>
          <a:bodyPr wrap="square" rtlCol="0" anchor="ctr"/>
          <a:lstStyle/>
          <a:p>
            <a:pPr marL="0" indent="0">
              <a:lnSpc>
                <a:spcPct val="115000"/>
              </a:lnSpc>
              <a:buNone/>
            </a:pPr>
            <a:r>
              <a:rPr lang="en-US" sz="1200" i="1" dirty="0">
                <a:solidFill>
                  <a:srgbClr val="141412"/>
                </a:solidFill>
                <a:latin typeface="Calibri" pitchFamily="34" charset="0"/>
                <a:ea typeface="Calibri" pitchFamily="34" charset="-122"/>
                <a:cs typeface="Calibri" pitchFamily="34" charset="-120"/>
              </a:rPr>
              <a:t>Do certain customers drive most of the loss, and does behavior predict risk?</a:t>
            </a:r>
            <a:endParaRPr lang="en-US" sz="1200" dirty="0"/>
          </a:p>
        </p:txBody>
      </p:sp>
      <p:sp>
        <p:nvSpPr>
          <p:cNvPr id="15" name="Shape 13"/>
          <p:cNvSpPr/>
          <p:nvPr/>
        </p:nvSpPr>
        <p:spPr>
          <a:xfrm>
            <a:off x="6355080" y="4846320"/>
            <a:ext cx="5349240" cy="0"/>
          </a:xfrm>
          <a:prstGeom prst="line">
            <a:avLst/>
          </a:prstGeom>
          <a:noFill/>
          <a:ln w="6350">
            <a:solidFill>
              <a:srgbClr val="D6D4C8"/>
            </a:solidFill>
            <a:prstDash val="solid"/>
          </a:ln>
        </p:spPr>
      </p:sp>
      <p:sp>
        <p:nvSpPr>
          <p:cNvPr id="16" name="Text 14"/>
          <p:cNvSpPr/>
          <p:nvPr/>
        </p:nvSpPr>
        <p:spPr>
          <a:xfrm>
            <a:off x="6355080" y="4974336"/>
            <a:ext cx="534924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04  </a:t>
            </a:r>
            <a:r>
              <a:rPr lang="en-US" sz="1500" b="1" dirty="0">
                <a:solidFill>
                  <a:srgbClr val="141412"/>
                </a:solidFill>
                <a:latin typeface="Bookman Old Style" pitchFamily="34" charset="0"/>
                <a:ea typeface="Bookman Old Style" pitchFamily="34" charset="-122"/>
                <a:cs typeface="Bookman Old Style" pitchFamily="34" charset="-120"/>
              </a:rPr>
              <a:t>Product   </a:t>
            </a:r>
            <a:r>
              <a:rPr lang="en-US" sz="1050" dirty="0">
                <a:solidFill>
                  <a:srgbClr val="5C5C54"/>
                </a:solidFill>
                <a:latin typeface="Courier New" pitchFamily="34" charset="0"/>
                <a:ea typeface="Courier New" pitchFamily="34" charset="-122"/>
                <a:cs typeface="Courier New" pitchFamily="34" charset="-120"/>
              </a:rPr>
              <a:t>· Pareto analysis + price-band segmentation</a:t>
            </a:r>
            <a:endParaRPr lang="en-US" sz="1200" dirty="0"/>
          </a:p>
        </p:txBody>
      </p:sp>
      <p:sp>
        <p:nvSpPr>
          <p:cNvPr id="17" name="Text 15"/>
          <p:cNvSpPr/>
          <p:nvPr/>
        </p:nvSpPr>
        <p:spPr>
          <a:xfrm>
            <a:off x="6355080" y="5321808"/>
            <a:ext cx="5349240" cy="502920"/>
          </a:xfrm>
          <a:prstGeom prst="rect">
            <a:avLst/>
          </a:prstGeom>
          <a:noFill/>
          <a:ln/>
        </p:spPr>
        <p:txBody>
          <a:bodyPr wrap="square" rtlCol="0" anchor="ctr"/>
          <a:lstStyle/>
          <a:p>
            <a:pPr marL="0" indent="0">
              <a:lnSpc>
                <a:spcPct val="115000"/>
              </a:lnSpc>
              <a:buNone/>
            </a:pPr>
            <a:r>
              <a:rPr lang="en-US" sz="1200" i="1" dirty="0">
                <a:solidFill>
                  <a:srgbClr val="141412"/>
                </a:solidFill>
                <a:latin typeface="Calibri" pitchFamily="34" charset="0"/>
                <a:ea typeface="Calibri" pitchFamily="34" charset="-122"/>
                <a:cs typeface="Calibri" pitchFamily="34" charset="-120"/>
              </a:rPr>
              <a:t>Do a small number of products account for most of the loss?</a:t>
            </a:r>
            <a:endParaRPr lang="en-US" sz="1200" dirty="0"/>
          </a:p>
        </p:txBody>
      </p:sp>
      <p:sp>
        <p:nvSpPr>
          <p:cNvPr id="18" name="Shape 16"/>
          <p:cNvSpPr/>
          <p:nvPr/>
        </p:nvSpPr>
        <p:spPr>
          <a:xfrm>
            <a:off x="457200" y="6355080"/>
            <a:ext cx="11277295" cy="0"/>
          </a:xfrm>
          <a:prstGeom prst="line">
            <a:avLst/>
          </a:prstGeom>
          <a:noFill/>
          <a:ln w="9525">
            <a:solidFill>
              <a:srgbClr val="D6D4C8"/>
            </a:solidFill>
            <a:prstDash val="solid"/>
          </a:ln>
        </p:spPr>
      </p:sp>
      <p:sp>
        <p:nvSpPr>
          <p:cNvPr id="19" name="Text 17"/>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20" name="Text 18"/>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03 / 14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01  </a:t>
            </a:r>
            <a:r>
              <a:rPr lang="en-US" sz="1250" kern="0" spc="100" dirty="0">
                <a:solidFill>
                  <a:srgbClr val="5C5C54"/>
                </a:solidFill>
                <a:latin typeface="Courier New" pitchFamily="34" charset="0"/>
                <a:ea typeface="Courier New" pitchFamily="34" charset="-122"/>
                <a:cs typeface="Courier New" pitchFamily="34" charset="-120"/>
              </a:rPr>
              <a:t>— KEY FINDING — GEOGRAPHY</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700" b="1" dirty="0">
                <a:solidFill>
                  <a:srgbClr val="141412"/>
                </a:solidFill>
                <a:latin typeface="Bookman Old Style" pitchFamily="34" charset="0"/>
                <a:ea typeface="Bookman Old Style" pitchFamily="34" charset="-122"/>
                <a:cs typeface="Bookman Old Style" pitchFamily="34" charset="-120"/>
              </a:rPr>
              <a:t>UK Drives Volume — Others Drive Rate</a:t>
            </a:r>
            <a:endParaRPr lang="en-US" sz="2700" dirty="0"/>
          </a:p>
        </p:txBody>
      </p:sp>
      <p:sp>
        <p:nvSpPr>
          <p:cNvPr id="4" name="Shape 2"/>
          <p:cNvSpPr/>
          <p:nvPr/>
        </p:nvSpPr>
        <p:spPr>
          <a:xfrm>
            <a:off x="448056" y="1453896"/>
            <a:ext cx="6967728" cy="3291840"/>
          </a:xfrm>
          <a:prstGeom prst="rect">
            <a:avLst/>
          </a:prstGeom>
          <a:ln w="9525">
            <a:solidFill>
              <a:srgbClr val="D6D4C8"/>
            </a:solidFill>
            <a:prstDash val="solid"/>
          </a:ln>
        </p:spPr>
      </p:sp>
      <p:pic>
        <p:nvPicPr>
          <p:cNvPr id="5" name="Image 0" descr="/home/claude/imgs/chart1_country_loss_rate.png"/>
          <p:cNvPicPr>
            <a:picLocks noChangeAspect="1"/>
          </p:cNvPicPr>
          <p:nvPr/>
        </p:nvPicPr>
        <p:blipFill>
          <a:blip r:embed="rId3"/>
          <a:stretch>
            <a:fillRect/>
          </a:stretch>
        </p:blipFill>
        <p:spPr>
          <a:xfrm>
            <a:off x="502920" y="1508760"/>
            <a:ext cx="6858000" cy="3182112"/>
          </a:xfrm>
          <a:prstGeom prst="rect">
            <a:avLst/>
          </a:prstGeom>
        </p:spPr>
      </p:pic>
      <p:sp>
        <p:nvSpPr>
          <p:cNvPr id="6" name="Text 3"/>
          <p:cNvSpPr/>
          <p:nvPr/>
        </p:nvSpPr>
        <p:spPr>
          <a:xfrm>
            <a:off x="448056" y="4782312"/>
            <a:ext cx="713232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01  </a:t>
            </a:r>
            <a:r>
              <a:rPr lang="en-US" sz="900" kern="0" spc="20" dirty="0">
                <a:solidFill>
                  <a:srgbClr val="5C5C54"/>
                </a:solidFill>
                <a:latin typeface="Courier New" pitchFamily="34" charset="0"/>
                <a:ea typeface="Courier New" pitchFamily="34" charset="-122"/>
                <a:cs typeface="Courier New" pitchFamily="34" charset="-120"/>
              </a:rPr>
              <a:t>Top 10 countries — cancellation loss (£) vs. rate (%), two-year window</a:t>
            </a:r>
            <a:endParaRPr lang="en-US" sz="900" dirty="0"/>
          </a:p>
        </p:txBody>
      </p:sp>
      <p:sp>
        <p:nvSpPr>
          <p:cNvPr id="7" name="Text 4"/>
          <p:cNvSpPr/>
          <p:nvPr/>
        </p:nvSpPr>
        <p:spPr>
          <a:xfrm>
            <a:off x="502920" y="5193792"/>
            <a:ext cx="6858000" cy="457200"/>
          </a:xfrm>
          <a:prstGeom prst="rect">
            <a:avLst/>
          </a:prstGeom>
          <a:noFill/>
          <a:ln/>
        </p:spPr>
        <p:txBody>
          <a:bodyPr wrap="square" rtlCol="0" anchor="ctr"/>
          <a:lstStyle/>
          <a:p>
            <a:pPr marL="0" indent="0">
              <a:lnSpc>
                <a:spcPct val="120000"/>
              </a:lnSpc>
              <a:buNone/>
            </a:pPr>
            <a:r>
              <a:rPr lang="en-US" sz="2000" b="1" dirty="0">
                <a:solidFill>
                  <a:srgbClr val="C81E3A"/>
                </a:solidFill>
                <a:latin typeface="Bookman Old Style" pitchFamily="34" charset="0"/>
                <a:ea typeface="Bookman Old Style" pitchFamily="34" charset="-122"/>
                <a:cs typeface="Bookman Old Style" pitchFamily="34" charset="-120"/>
              </a:rPr>
              <a:t>85.2% </a:t>
            </a:r>
            <a:r>
              <a:rPr lang="en-US" sz="1250" dirty="0">
                <a:solidFill>
                  <a:srgbClr val="141412"/>
                </a:solidFill>
                <a:latin typeface="Calibri" pitchFamily="34" charset="0"/>
                <a:ea typeface="Calibri" pitchFamily="34" charset="-122"/>
                <a:cs typeface="Calibri" pitchFamily="34" charset="-120"/>
              </a:rPr>
              <a:t>of all loss sits in the UK, yet its 16.4% rate is </a:t>
            </a:r>
            <a:r>
              <a:rPr lang="en-US" sz="1250" b="1" dirty="0">
                <a:solidFill>
                  <a:srgbClr val="141412"/>
                </a:solidFill>
                <a:latin typeface="Calibri" pitchFamily="34" charset="0"/>
                <a:ea typeface="Calibri" pitchFamily="34" charset="-122"/>
                <a:cs typeface="Calibri" pitchFamily="34" charset="-120"/>
              </a:rPr>
              <a:t>below</a:t>
            </a:r>
            <a:r>
              <a:rPr lang="en-US" sz="1250" dirty="0">
                <a:solidFill>
                  <a:srgbClr val="141412"/>
                </a:solidFill>
                <a:latin typeface="Calibri" pitchFamily="34" charset="0"/>
                <a:ea typeface="Calibri" pitchFamily="34" charset="-122"/>
                <a:cs typeface="Calibri" pitchFamily="34" charset="-120"/>
              </a:rPr>
              <a:t> several smaller markets.</a:t>
            </a:r>
            <a:endParaRPr lang="en-US" sz="2000" dirty="0"/>
          </a:p>
        </p:txBody>
      </p:sp>
      <p:sp>
        <p:nvSpPr>
          <p:cNvPr id="8" name="Text 5"/>
          <p:cNvSpPr/>
          <p:nvPr/>
        </p:nvSpPr>
        <p:spPr>
          <a:xfrm>
            <a:off x="502920" y="5650992"/>
            <a:ext cx="6858000" cy="685800"/>
          </a:xfrm>
          <a:prstGeom prst="rect">
            <a:avLst/>
          </a:prstGeom>
          <a:noFill/>
          <a:ln/>
        </p:spPr>
        <p:txBody>
          <a:bodyPr wrap="square" rtlCol="0" anchor="ctr"/>
          <a:lstStyle/>
          <a:p>
            <a:pPr marL="0" indent="0">
              <a:lnSpc>
                <a:spcPct val="120000"/>
              </a:lnSpc>
              <a:buNone/>
            </a:pPr>
            <a:r>
              <a:rPr lang="en-US" sz="1050" dirty="0">
                <a:solidFill>
                  <a:srgbClr val="5C5C54"/>
                </a:solidFill>
                <a:latin typeface="Calibri" pitchFamily="34" charset="0"/>
                <a:ea typeface="Calibri" pitchFamily="34" charset="-122"/>
                <a:cs typeface="Calibri" pitchFamily="34" charset="-120"/>
              </a:rPr>
              <a:t>Germany (28.0%) and Hong Kong (28.6%) cancel at nearly double the UK rate — a chi-square test confirms the gap is statistically significant for every country except Sweden. </a:t>
            </a:r>
            <a:endParaRPr lang="en-US" sz="1050" dirty="0"/>
          </a:p>
        </p:txBody>
      </p:sp>
      <p:sp>
        <p:nvSpPr>
          <p:cNvPr id="9" name="Shape 6"/>
          <p:cNvSpPr/>
          <p:nvPr/>
        </p:nvSpPr>
        <p:spPr>
          <a:xfrm>
            <a:off x="7772400" y="1508760"/>
            <a:ext cx="50292" cy="4709160"/>
          </a:xfrm>
          <a:prstGeom prst="rect">
            <a:avLst/>
          </a:prstGeom>
          <a:solidFill>
            <a:srgbClr val="C81E3A"/>
          </a:solidFill>
          <a:ln/>
        </p:spPr>
      </p:sp>
      <p:sp>
        <p:nvSpPr>
          <p:cNvPr id="10" name="Text 7"/>
          <p:cNvSpPr/>
          <p:nvPr/>
        </p:nvSpPr>
        <p:spPr>
          <a:xfrm>
            <a:off x="8028432" y="1508760"/>
            <a:ext cx="367588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BUSINESS INSIGHT</a:t>
            </a:r>
            <a:endParaRPr lang="en-US" sz="1050" dirty="0"/>
          </a:p>
        </p:txBody>
      </p:sp>
      <p:sp>
        <p:nvSpPr>
          <p:cNvPr id="11" name="Text 8"/>
          <p:cNvSpPr/>
          <p:nvPr/>
        </p:nvSpPr>
        <p:spPr>
          <a:xfrm>
            <a:off x="8028432" y="1837944"/>
            <a:ext cx="3657600" cy="4343400"/>
          </a:xfrm>
          <a:prstGeom prst="rect">
            <a:avLst/>
          </a:prstGeom>
          <a:noFill/>
          <a:ln/>
        </p:spPr>
        <p:txBody>
          <a:bodyPr wrap="square" rtlCol="0" anchor="ctr"/>
          <a:lstStyle/>
          <a:p>
            <a:pPr marL="0" indent="0">
              <a:lnSpc>
                <a:spcPct val="128000"/>
              </a:lnSpc>
              <a:buNone/>
            </a:pPr>
            <a:r>
              <a:rPr lang="en-US" sz="1550" b="1" dirty="0">
                <a:solidFill>
                  <a:srgbClr val="141412"/>
                </a:solidFill>
                <a:latin typeface="Bookman Old Style" pitchFamily="34" charset="0"/>
                <a:ea typeface="Bookman Old Style" pitchFamily="34" charset="-122"/>
                <a:cs typeface="Bookman Old Style" pitchFamily="34" charset="-120"/>
              </a:rPr>
              <a:t>The UK has the biggest exposure by pounds lost. Germany and EIRE are the bigger problem by rate.
</a:t>
            </a:r>
            <a:r>
              <a:rPr lang="en-US" sz="1250" b="1" dirty="0">
                <a:solidFill>
                  <a:srgbClr val="5C5C54"/>
                </a:solidFill>
                <a:latin typeface="Calibri" pitchFamily="34" charset="0"/>
                <a:ea typeface="Bookman Old Style" pitchFamily="34" charset="-122"/>
                <a:cs typeface="Calibri" pitchFamily="34" charset="-120"/>
              </a:rPr>
              <a:t>Combining the UK, EIRE, France, Norway, Spain, and Germany covers 95% of the total pound losses. </a:t>
            </a:r>
            <a:endParaRPr lang="en-US" sz="1550" dirty="0"/>
          </a:p>
        </p:txBody>
      </p:sp>
      <p:sp>
        <p:nvSpPr>
          <p:cNvPr id="12" name="Shape 9"/>
          <p:cNvSpPr/>
          <p:nvPr/>
        </p:nvSpPr>
        <p:spPr>
          <a:xfrm>
            <a:off x="457200" y="6355080"/>
            <a:ext cx="11277295" cy="0"/>
          </a:xfrm>
          <a:prstGeom prst="line">
            <a:avLst/>
          </a:prstGeom>
          <a:noFill/>
          <a:ln w="9525">
            <a:solidFill>
              <a:srgbClr val="D6D4C8"/>
            </a:solidFill>
            <a:prstDash val="solid"/>
          </a:ln>
        </p:spPr>
      </p:sp>
      <p:sp>
        <p:nvSpPr>
          <p:cNvPr id="13" name="Text 10"/>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4" name="Text 11"/>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04 / 14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02  </a:t>
            </a:r>
            <a:r>
              <a:rPr lang="en-US" sz="1250" kern="0" spc="100" dirty="0">
                <a:solidFill>
                  <a:srgbClr val="5C5C54"/>
                </a:solidFill>
                <a:latin typeface="Courier New" pitchFamily="34" charset="0"/>
                <a:ea typeface="Courier New" pitchFamily="34" charset="-122"/>
                <a:cs typeface="Courier New" pitchFamily="34" charset="-120"/>
              </a:rPr>
              <a:t>— KEY FINDING — TIME</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700" b="1" dirty="0">
                <a:solidFill>
                  <a:srgbClr val="141412"/>
                </a:solidFill>
                <a:latin typeface="Bookman Old Style" pitchFamily="34" charset="0"/>
                <a:ea typeface="Bookman Old Style" pitchFamily="34" charset="-122"/>
                <a:cs typeface="Bookman Old Style" pitchFamily="34" charset="-120"/>
              </a:rPr>
              <a:t>Losses Spike With Volume.</a:t>
            </a:r>
            <a:endParaRPr lang="en-US" sz="2700" dirty="0"/>
          </a:p>
        </p:txBody>
      </p:sp>
      <p:sp>
        <p:nvSpPr>
          <p:cNvPr id="4" name="Shape 2"/>
          <p:cNvSpPr/>
          <p:nvPr/>
        </p:nvSpPr>
        <p:spPr>
          <a:xfrm>
            <a:off x="5111496" y="1408176"/>
            <a:ext cx="6647688" cy="4407408"/>
          </a:xfrm>
          <a:prstGeom prst="rect">
            <a:avLst/>
          </a:prstGeom>
          <a:ln w="9525">
            <a:solidFill>
              <a:srgbClr val="D6D4C8"/>
            </a:solidFill>
            <a:prstDash val="solid"/>
          </a:ln>
        </p:spPr>
      </p:sp>
      <p:pic>
        <p:nvPicPr>
          <p:cNvPr id="5" name="Image 0" descr="/home/claude/imgs/chart6_quarterly.png"/>
          <p:cNvPicPr>
            <a:picLocks noChangeAspect="1"/>
          </p:cNvPicPr>
          <p:nvPr/>
        </p:nvPicPr>
        <p:blipFill>
          <a:blip r:embed="rId3"/>
          <a:stretch>
            <a:fillRect/>
          </a:stretch>
        </p:blipFill>
        <p:spPr>
          <a:xfrm>
            <a:off x="5166360" y="1463040"/>
            <a:ext cx="6537960" cy="4297680"/>
          </a:xfrm>
          <a:prstGeom prst="rect">
            <a:avLst/>
          </a:prstGeom>
        </p:spPr>
      </p:pic>
      <p:sp>
        <p:nvSpPr>
          <p:cNvPr id="6" name="Text 3"/>
          <p:cNvSpPr/>
          <p:nvPr/>
        </p:nvSpPr>
        <p:spPr>
          <a:xfrm>
            <a:off x="5111496" y="5852160"/>
            <a:ext cx="681228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02  </a:t>
            </a:r>
            <a:r>
              <a:rPr lang="en-US" sz="900" kern="0" spc="20" dirty="0">
                <a:solidFill>
                  <a:srgbClr val="5C5C54"/>
                </a:solidFill>
                <a:latin typeface="Courier New" pitchFamily="34" charset="0"/>
                <a:ea typeface="Courier New" pitchFamily="34" charset="-122"/>
                <a:cs typeface="Courier New" pitchFamily="34" charset="-120"/>
              </a:rPr>
              <a:t>Quarterly cancellation loss (£) and rate (%), Q4 2009 – Q4 2011</a:t>
            </a:r>
            <a:endParaRPr lang="en-US" sz="900" dirty="0"/>
          </a:p>
        </p:txBody>
      </p:sp>
      <p:sp>
        <p:nvSpPr>
          <p:cNvPr id="7" name="Text 4"/>
          <p:cNvSpPr/>
          <p:nvPr/>
        </p:nvSpPr>
        <p:spPr>
          <a:xfrm>
            <a:off x="502920" y="1600200"/>
            <a:ext cx="4343400" cy="914400"/>
          </a:xfrm>
          <a:prstGeom prst="rect">
            <a:avLst/>
          </a:prstGeom>
          <a:noFill/>
          <a:ln/>
        </p:spPr>
        <p:txBody>
          <a:bodyPr wrap="square" rtlCol="0" anchor="ctr"/>
          <a:lstStyle/>
          <a:p>
            <a:pPr marL="0" indent="0">
              <a:lnSpc>
                <a:spcPct val="125000"/>
              </a:lnSpc>
              <a:buNone/>
            </a:pPr>
            <a:r>
              <a:rPr lang="en-US" sz="2400" b="1" dirty="0">
                <a:solidFill>
                  <a:srgbClr val="C81E3A"/>
                </a:solidFill>
                <a:latin typeface="Bookman Old Style" pitchFamily="34" charset="0"/>
                <a:ea typeface="Bookman Old Style" pitchFamily="34" charset="-122"/>
                <a:cs typeface="Bookman Old Style" pitchFamily="34" charset="-120"/>
              </a:rPr>
              <a:t>£259,934 </a:t>
            </a:r>
            <a:r>
              <a:rPr lang="en-US" sz="1350" dirty="0">
                <a:solidFill>
                  <a:srgbClr val="141412"/>
                </a:solidFill>
                <a:latin typeface="Calibri" pitchFamily="34" charset="0"/>
                <a:ea typeface="Calibri" pitchFamily="34" charset="-122"/>
                <a:cs typeface="Calibri" pitchFamily="34" charset="-120"/>
              </a:rPr>
              <a:t>lost in Q4 2010 alone — the single largest quarter in the dataset.</a:t>
            </a:r>
            <a:endParaRPr lang="en-US" sz="2400" dirty="0"/>
          </a:p>
        </p:txBody>
      </p:sp>
      <p:sp>
        <p:nvSpPr>
          <p:cNvPr id="8" name="Text 5"/>
          <p:cNvSpPr/>
          <p:nvPr/>
        </p:nvSpPr>
        <p:spPr>
          <a:xfrm>
            <a:off x="502920" y="2606040"/>
            <a:ext cx="4343400" cy="1280160"/>
          </a:xfrm>
          <a:prstGeom prst="rect">
            <a:avLst/>
          </a:prstGeom>
          <a:noFill/>
          <a:ln/>
        </p:spPr>
        <p:txBody>
          <a:bodyPr wrap="square" rtlCol="0" anchor="ctr"/>
          <a:lstStyle/>
          <a:p>
            <a:pPr marL="0" indent="0">
              <a:lnSpc>
                <a:spcPct val="130000"/>
              </a:lnSpc>
              <a:buNone/>
            </a:pPr>
            <a:r>
              <a:rPr lang="en-US" sz="1250" dirty="0">
                <a:solidFill>
                  <a:srgbClr val="5C5C54"/>
                </a:solidFill>
                <a:latin typeface="Calibri" pitchFamily="34" charset="0"/>
                <a:ea typeface="Calibri" pitchFamily="34" charset="-122"/>
                <a:cs typeface="Calibri" pitchFamily="34" charset="-120"/>
              </a:rPr>
              <a:t>The cancellation rate holds steady at ~16.9% across both years — Q4/Q1 spikes come from more orders being placed. </a:t>
            </a:r>
            <a:endParaRPr lang="en-US" sz="1250" dirty="0"/>
          </a:p>
        </p:txBody>
      </p:sp>
      <p:sp>
        <p:nvSpPr>
          <p:cNvPr id="9" name="Shape 6"/>
          <p:cNvSpPr/>
          <p:nvPr/>
        </p:nvSpPr>
        <p:spPr>
          <a:xfrm>
            <a:off x="502920" y="4114800"/>
            <a:ext cx="50292" cy="2011680"/>
          </a:xfrm>
          <a:prstGeom prst="rect">
            <a:avLst/>
          </a:prstGeom>
          <a:solidFill>
            <a:srgbClr val="C81E3A"/>
          </a:solidFill>
          <a:ln/>
        </p:spPr>
      </p:sp>
      <p:sp>
        <p:nvSpPr>
          <p:cNvPr id="10" name="Text 7"/>
          <p:cNvSpPr/>
          <p:nvPr/>
        </p:nvSpPr>
        <p:spPr>
          <a:xfrm>
            <a:off x="758952" y="4114800"/>
            <a:ext cx="408736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BUSINESS INSIGHT</a:t>
            </a:r>
            <a:endParaRPr lang="en-US" sz="1050" dirty="0"/>
          </a:p>
        </p:txBody>
      </p:sp>
      <p:sp>
        <p:nvSpPr>
          <p:cNvPr id="11" name="Text 8"/>
          <p:cNvSpPr/>
          <p:nvPr/>
        </p:nvSpPr>
        <p:spPr>
          <a:xfrm>
            <a:off x="758952" y="4443984"/>
            <a:ext cx="4069080" cy="1645920"/>
          </a:xfrm>
          <a:prstGeom prst="rect">
            <a:avLst/>
          </a:prstGeom>
          <a:noFill/>
          <a:ln/>
        </p:spPr>
        <p:txBody>
          <a:bodyPr wrap="square" rtlCol="0" anchor="ctr"/>
          <a:lstStyle/>
          <a:p>
            <a:pPr marL="0" indent="0">
              <a:lnSpc>
                <a:spcPct val="128000"/>
              </a:lnSpc>
              <a:buNone/>
            </a:pPr>
            <a:r>
              <a:rPr lang="en-US" sz="1450" b="1" dirty="0">
                <a:solidFill>
                  <a:srgbClr val="141412"/>
                </a:solidFill>
                <a:latin typeface="Bookman Old Style" pitchFamily="34" charset="0"/>
                <a:ea typeface="Bookman Old Style" pitchFamily="34" charset="-122"/>
                <a:cs typeface="Bookman Old Style" pitchFamily="34" charset="-120"/>
              </a:rPr>
              <a:t>Pre-position logistics and customer-service resources ahead of Q4 and the Q1 post-holiday wave.
</a:t>
            </a:r>
            <a:r>
              <a:rPr lang="en-US" sz="1200" b="1" dirty="0">
                <a:solidFill>
                  <a:srgbClr val="5C5C54"/>
                </a:solidFill>
                <a:latin typeface="Calibri" pitchFamily="34" charset="0"/>
                <a:ea typeface="Bookman Old Style" pitchFamily="34" charset="-122"/>
                <a:cs typeface="Calibri" pitchFamily="34" charset="-120"/>
              </a:rPr>
              <a:t>T</a:t>
            </a:r>
            <a:r>
              <a:rPr lang="en-US" sz="1200" dirty="0">
                <a:solidFill>
                  <a:srgbClr val="5C5C54"/>
                </a:solidFill>
                <a:latin typeface="Calibri" pitchFamily="34" charset="0"/>
                <a:ea typeface="Calibri" pitchFamily="34" charset="-122"/>
                <a:cs typeface="Calibri" pitchFamily="34" charset="-120"/>
              </a:rPr>
              <a:t>he surge is predictable, so staff and stock for it in advance.</a:t>
            </a:r>
            <a:endParaRPr lang="en-US" sz="1450" dirty="0"/>
          </a:p>
        </p:txBody>
      </p:sp>
      <p:sp>
        <p:nvSpPr>
          <p:cNvPr id="12" name="Shape 9"/>
          <p:cNvSpPr/>
          <p:nvPr/>
        </p:nvSpPr>
        <p:spPr>
          <a:xfrm>
            <a:off x="457200" y="6355080"/>
            <a:ext cx="11277295" cy="0"/>
          </a:xfrm>
          <a:prstGeom prst="line">
            <a:avLst/>
          </a:prstGeom>
          <a:noFill/>
          <a:ln w="9525">
            <a:solidFill>
              <a:srgbClr val="D6D4C8"/>
            </a:solidFill>
            <a:prstDash val="solid"/>
          </a:ln>
        </p:spPr>
      </p:sp>
      <p:sp>
        <p:nvSpPr>
          <p:cNvPr id="13" name="Text 10"/>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4" name="Text 11"/>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05 / 14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03  </a:t>
            </a:r>
            <a:r>
              <a:rPr lang="en-US" sz="1250" kern="0" spc="100" dirty="0">
                <a:solidFill>
                  <a:srgbClr val="5C5C54"/>
                </a:solidFill>
                <a:latin typeface="Courier New" pitchFamily="34" charset="0"/>
                <a:ea typeface="Courier New" pitchFamily="34" charset="-122"/>
                <a:cs typeface="Courier New" pitchFamily="34" charset="-120"/>
              </a:rPr>
              <a:t>— KEY FINDING — CUSTOMER, Q1</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300" b="1" dirty="0">
                <a:solidFill>
                  <a:srgbClr val="141412"/>
                </a:solidFill>
                <a:latin typeface="Bookman Old Style" pitchFamily="34" charset="0"/>
                <a:ea typeface="Bookman Old Style" pitchFamily="34" charset="-122"/>
                <a:cs typeface="Bookman Old Style" pitchFamily="34" charset="-120"/>
              </a:rPr>
              <a:t>Is There a Pareto Pattern? Yes — In Some Countries</a:t>
            </a:r>
            <a:endParaRPr lang="en-US" sz="2300" dirty="0"/>
          </a:p>
        </p:txBody>
      </p:sp>
      <p:sp>
        <p:nvSpPr>
          <p:cNvPr id="4" name="Shape 2"/>
          <p:cNvSpPr/>
          <p:nvPr/>
        </p:nvSpPr>
        <p:spPr>
          <a:xfrm>
            <a:off x="448056" y="1362456"/>
            <a:ext cx="5184648" cy="2075688"/>
          </a:xfrm>
          <a:prstGeom prst="rect">
            <a:avLst/>
          </a:prstGeom>
          <a:ln w="9525">
            <a:solidFill>
              <a:srgbClr val="D6D4C8"/>
            </a:solidFill>
            <a:prstDash val="solid"/>
          </a:ln>
        </p:spPr>
      </p:sp>
      <p:pic>
        <p:nvPicPr>
          <p:cNvPr id="5" name="Image 0" descr="/home/claude/imgs/chart_invoice_loss_distribution_zoomed.png"/>
          <p:cNvPicPr>
            <a:picLocks noChangeAspect="1"/>
          </p:cNvPicPr>
          <p:nvPr/>
        </p:nvPicPr>
        <p:blipFill>
          <a:blip r:embed="rId3"/>
          <a:stretch>
            <a:fillRect/>
          </a:stretch>
        </p:blipFill>
        <p:spPr>
          <a:xfrm>
            <a:off x="502920" y="1417320"/>
            <a:ext cx="5074920" cy="1965960"/>
          </a:xfrm>
          <a:prstGeom prst="rect">
            <a:avLst/>
          </a:prstGeom>
        </p:spPr>
      </p:pic>
      <p:sp>
        <p:nvSpPr>
          <p:cNvPr id="6" name="Text 3"/>
          <p:cNvSpPr/>
          <p:nvPr/>
        </p:nvSpPr>
        <p:spPr>
          <a:xfrm>
            <a:off x="448056" y="3474720"/>
            <a:ext cx="534924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03  </a:t>
            </a:r>
            <a:r>
              <a:rPr lang="en-US" sz="900" kern="0" spc="20" dirty="0">
                <a:solidFill>
                  <a:srgbClr val="5C5C54"/>
                </a:solidFill>
                <a:latin typeface="Courier New" pitchFamily="34" charset="0"/>
                <a:ea typeface="Courier New" pitchFamily="34" charset="-122"/>
                <a:cs typeface="Courier New" pitchFamily="34" charset="-120"/>
              </a:rPr>
              <a:t>Distribution of loss per invoice, top 6 countries (zoomed £0–£1,000)</a:t>
            </a:r>
            <a:endParaRPr lang="en-US" sz="900" dirty="0"/>
          </a:p>
        </p:txBody>
      </p:sp>
      <p:sp>
        <p:nvSpPr>
          <p:cNvPr id="7" name="Text 4"/>
          <p:cNvSpPr/>
          <p:nvPr/>
        </p:nvSpPr>
        <p:spPr>
          <a:xfrm>
            <a:off x="502920" y="3913632"/>
            <a:ext cx="5074920" cy="640080"/>
          </a:xfrm>
          <a:prstGeom prst="rect">
            <a:avLst/>
          </a:prstGeom>
          <a:noFill/>
          <a:ln/>
        </p:spPr>
        <p:txBody>
          <a:bodyPr wrap="square" rtlCol="0" anchor="ctr"/>
          <a:lstStyle/>
          <a:p>
            <a:pPr marL="0" indent="0">
              <a:lnSpc>
                <a:spcPct val="120000"/>
              </a:lnSpc>
              <a:buNone/>
            </a:pPr>
            <a:r>
              <a:rPr lang="en-US" sz="1150" b="1" dirty="0">
                <a:solidFill>
                  <a:srgbClr val="C81E3A"/>
                </a:solidFill>
                <a:latin typeface="Bookman Old Style" pitchFamily="34" charset="0"/>
                <a:ea typeface="Bookman Old Style" pitchFamily="34" charset="-122"/>
                <a:cs typeface="Bookman Old Style" pitchFamily="34" charset="-120"/>
              </a:rPr>
              <a:t>Median £16.95 vs. mean £160.65</a:t>
            </a:r>
            <a:r>
              <a:rPr lang="en-US" sz="1050" dirty="0">
                <a:solidFill>
                  <a:srgbClr val="5C5C54"/>
                </a:solidFill>
                <a:latin typeface="Calibri" pitchFamily="34" charset="0"/>
                <a:ea typeface="Calibri" pitchFamily="34" charset="-122"/>
                <a:cs typeface="Calibri" pitchFamily="34" charset="-120"/>
              </a:rPr>
              <a:t> — a 9.5x gap. Loss per invoice is heavily right-skewed (max £77,184) — why Pareto, not averages, is the right lens.</a:t>
            </a:r>
            <a:endParaRPr lang="en-US" sz="1150" dirty="0"/>
          </a:p>
        </p:txBody>
      </p:sp>
      <p:sp>
        <p:nvSpPr>
          <p:cNvPr id="8" name="Shape 5"/>
          <p:cNvSpPr/>
          <p:nvPr/>
        </p:nvSpPr>
        <p:spPr>
          <a:xfrm>
            <a:off x="5934456" y="1362456"/>
            <a:ext cx="5870448" cy="2258568"/>
          </a:xfrm>
          <a:prstGeom prst="rect">
            <a:avLst/>
          </a:prstGeom>
          <a:ln w="9525">
            <a:solidFill>
              <a:srgbClr val="D6D4C8"/>
            </a:solidFill>
            <a:prstDash val="solid"/>
          </a:ln>
        </p:spPr>
      </p:sp>
      <p:sp>
        <p:nvSpPr>
          <p:cNvPr id="10" name="Text 6"/>
          <p:cNvSpPr/>
          <p:nvPr/>
        </p:nvSpPr>
        <p:spPr>
          <a:xfrm>
            <a:off x="5934456" y="3657600"/>
            <a:ext cx="603504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04  </a:t>
            </a:r>
            <a:r>
              <a:rPr lang="en-US" sz="900" kern="0" spc="20" dirty="0">
                <a:solidFill>
                  <a:srgbClr val="5C5C54"/>
                </a:solidFill>
                <a:latin typeface="Courier New" pitchFamily="34" charset="0"/>
                <a:ea typeface="Courier New" pitchFamily="34" charset="-122"/>
                <a:cs typeface="Courier New" pitchFamily="34" charset="-120"/>
              </a:rPr>
              <a:t>Customers required to reach 80% of cancellation loss, by country</a:t>
            </a:r>
            <a:endParaRPr lang="en-US" sz="900" dirty="0"/>
          </a:p>
        </p:txBody>
      </p:sp>
      <p:sp>
        <p:nvSpPr>
          <p:cNvPr id="11" name="Shape 7"/>
          <p:cNvSpPr/>
          <p:nvPr/>
        </p:nvSpPr>
        <p:spPr>
          <a:xfrm>
            <a:off x="6309360" y="4572000"/>
            <a:ext cx="0" cy="1691640"/>
          </a:xfrm>
          <a:prstGeom prst="line">
            <a:avLst/>
          </a:prstGeom>
          <a:noFill/>
          <a:ln w="9525">
            <a:solidFill>
              <a:srgbClr val="D6D4C8"/>
            </a:solidFill>
            <a:prstDash val="solid"/>
          </a:ln>
        </p:spPr>
      </p:sp>
      <p:sp>
        <p:nvSpPr>
          <p:cNvPr id="12" name="Text 8"/>
          <p:cNvSpPr/>
          <p:nvPr/>
        </p:nvSpPr>
        <p:spPr>
          <a:xfrm>
            <a:off x="502920" y="4572000"/>
            <a:ext cx="5577840" cy="256032"/>
          </a:xfrm>
          <a:prstGeom prst="rect">
            <a:avLst/>
          </a:prstGeom>
          <a:noFill/>
          <a:ln/>
        </p:spPr>
        <p:txBody>
          <a:bodyPr wrap="square" rtlCol="0" anchor="ctr"/>
          <a:lstStyle/>
          <a:p>
            <a:pPr marL="0" indent="0">
              <a:buNone/>
            </a:pPr>
            <a:r>
              <a:rPr lang="en-US" sz="1050" b="1" kern="0" spc="100" dirty="0">
                <a:solidFill>
                  <a:srgbClr val="9C7A4F"/>
                </a:solidFill>
                <a:latin typeface="Courier New" pitchFamily="34" charset="0"/>
                <a:ea typeface="Courier New" pitchFamily="34" charset="-122"/>
                <a:cs typeface="Courier New" pitchFamily="34" charset="-120"/>
              </a:rPr>
              <a:t>PARETO HOLDS</a:t>
            </a:r>
            <a:endParaRPr lang="en-US" sz="1050" dirty="0"/>
          </a:p>
        </p:txBody>
      </p:sp>
      <p:sp>
        <p:nvSpPr>
          <p:cNvPr id="13" name="Text 9"/>
          <p:cNvSpPr/>
          <p:nvPr/>
        </p:nvSpPr>
        <p:spPr>
          <a:xfrm>
            <a:off x="502920" y="4864608"/>
            <a:ext cx="5577840" cy="1280160"/>
          </a:xfrm>
          <a:prstGeom prst="rect">
            <a:avLst/>
          </a:prstGeom>
          <a:noFill/>
          <a:ln/>
        </p:spPr>
        <p:txBody>
          <a:bodyPr wrap="square" rtlCol="0" anchor="ctr"/>
          <a:lstStyle/>
          <a:p>
            <a:pPr marL="0" indent="0">
              <a:lnSpc>
                <a:spcPct val="130000"/>
              </a:lnSpc>
              <a:buNone/>
            </a:pPr>
            <a:r>
              <a:rPr lang="en-US" sz="1100" b="1" dirty="0">
                <a:solidFill>
                  <a:srgbClr val="141412"/>
                </a:solidFill>
                <a:latin typeface="Calibri" pitchFamily="34" charset="0"/>
                <a:ea typeface="Calibri" pitchFamily="34" charset="-122"/>
                <a:cs typeface="Calibri" pitchFamily="34" charset="-120"/>
              </a:rPr>
              <a:t>Norway: </a:t>
            </a:r>
            <a:r>
              <a:rPr lang="en-US" sz="1100" dirty="0">
                <a:solidFill>
                  <a:srgbClr val="141412"/>
                </a:solidFill>
                <a:latin typeface="Calibri" pitchFamily="34" charset="0"/>
                <a:ea typeface="Calibri" pitchFamily="34" charset="-122"/>
                <a:cs typeface="Calibri" pitchFamily="34" charset="-120"/>
              </a:rPr>
              <a:t>1 account = 94.5%      </a:t>
            </a:r>
            <a:r>
              <a:rPr lang="en-US" sz="1100" b="1" dirty="0">
                <a:solidFill>
                  <a:srgbClr val="141412"/>
                </a:solidFill>
                <a:latin typeface="Calibri" pitchFamily="34" charset="0"/>
                <a:ea typeface="Calibri" pitchFamily="34" charset="-122"/>
                <a:cs typeface="Calibri" pitchFamily="34" charset="-120"/>
              </a:rPr>
              <a:t>EIRE: </a:t>
            </a:r>
            <a:r>
              <a:rPr lang="en-US" sz="1100" dirty="0">
                <a:solidFill>
                  <a:srgbClr val="141412"/>
                </a:solidFill>
                <a:latin typeface="Calibri" pitchFamily="34" charset="0"/>
                <a:ea typeface="Calibri" pitchFamily="34" charset="-122"/>
                <a:cs typeface="Calibri" pitchFamily="34" charset="-120"/>
              </a:rPr>
              <a:t>2 accounts = ~100%
</a:t>
            </a:r>
            <a:r>
              <a:rPr lang="en-US" sz="1100" b="1" dirty="0">
                <a:solidFill>
                  <a:srgbClr val="141412"/>
                </a:solidFill>
                <a:latin typeface="Calibri" pitchFamily="34" charset="0"/>
                <a:ea typeface="Calibri" pitchFamily="34" charset="-122"/>
                <a:cs typeface="Calibri" pitchFamily="34" charset="-120"/>
              </a:rPr>
              <a:t>France: </a:t>
            </a:r>
            <a:r>
              <a:rPr lang="en-US" sz="1100" dirty="0">
                <a:solidFill>
                  <a:srgbClr val="141412"/>
                </a:solidFill>
                <a:latin typeface="Calibri" pitchFamily="34" charset="0"/>
                <a:ea typeface="Calibri" pitchFamily="34" charset="-122"/>
                <a:cs typeface="Calibri" pitchFamily="34" charset="-120"/>
              </a:rPr>
              <a:t>3 accounts = 81.2%      </a:t>
            </a:r>
            <a:r>
              <a:rPr lang="en-US" sz="1100" b="1" dirty="0">
                <a:solidFill>
                  <a:srgbClr val="141412"/>
                </a:solidFill>
                <a:latin typeface="Calibri" pitchFamily="34" charset="0"/>
                <a:ea typeface="Calibri" pitchFamily="34" charset="-122"/>
                <a:cs typeface="Calibri" pitchFamily="34" charset="-120"/>
              </a:rPr>
              <a:t>Spain: </a:t>
            </a:r>
            <a:r>
              <a:rPr lang="en-US" sz="1100" dirty="0">
                <a:solidFill>
                  <a:srgbClr val="141412"/>
                </a:solidFill>
                <a:latin typeface="Calibri" pitchFamily="34" charset="0"/>
                <a:ea typeface="Calibri" pitchFamily="34" charset="-122"/>
                <a:cs typeface="Calibri" pitchFamily="34" charset="-120"/>
              </a:rPr>
              <a:t>1 account &gt; 50%</a:t>
            </a:r>
            <a:endParaRPr lang="en-US" sz="1100" dirty="0"/>
          </a:p>
        </p:txBody>
      </p:sp>
      <p:sp>
        <p:nvSpPr>
          <p:cNvPr id="14" name="Text 10"/>
          <p:cNvSpPr/>
          <p:nvPr/>
        </p:nvSpPr>
        <p:spPr>
          <a:xfrm>
            <a:off x="6537960" y="4572000"/>
            <a:ext cx="5120640" cy="256032"/>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PARETO DOES NOT HOLD</a:t>
            </a:r>
            <a:endParaRPr lang="en-US" sz="1050" dirty="0"/>
          </a:p>
        </p:txBody>
      </p:sp>
      <p:sp>
        <p:nvSpPr>
          <p:cNvPr id="15" name="Text 11"/>
          <p:cNvSpPr/>
          <p:nvPr/>
        </p:nvSpPr>
        <p:spPr>
          <a:xfrm>
            <a:off x="6537960" y="4864608"/>
            <a:ext cx="5120640" cy="1280160"/>
          </a:xfrm>
          <a:prstGeom prst="rect">
            <a:avLst/>
          </a:prstGeom>
          <a:noFill/>
          <a:ln/>
        </p:spPr>
        <p:txBody>
          <a:bodyPr wrap="square" rtlCol="0" anchor="ctr"/>
          <a:lstStyle/>
          <a:p>
            <a:pPr marL="0" indent="0">
              <a:lnSpc>
                <a:spcPct val="130000"/>
              </a:lnSpc>
              <a:buNone/>
            </a:pPr>
            <a:r>
              <a:rPr lang="en-US" sz="1100" b="1" dirty="0">
                <a:solidFill>
                  <a:srgbClr val="141412"/>
                </a:solidFill>
                <a:latin typeface="Calibri" pitchFamily="34" charset="0"/>
                <a:ea typeface="Calibri" pitchFamily="34" charset="-122"/>
                <a:cs typeface="Calibri" pitchFamily="34" charset="-120"/>
              </a:rPr>
              <a:t>Germany: </a:t>
            </a:r>
            <a:r>
              <a:rPr lang="en-US" sz="1100" dirty="0">
                <a:solidFill>
                  <a:srgbClr val="141412"/>
                </a:solidFill>
                <a:latin typeface="Calibri" pitchFamily="34" charset="0"/>
                <a:ea typeface="Calibri" pitchFamily="34" charset="-122"/>
                <a:cs typeface="Calibri" pitchFamily="34" charset="-120"/>
              </a:rPr>
              <a:t>19 of 66 accounts needed; top account only 14.6%
</a:t>
            </a:r>
            <a:r>
              <a:rPr lang="en-US" sz="1100" b="1" dirty="0">
                <a:solidFill>
                  <a:srgbClr val="141412"/>
                </a:solidFill>
                <a:latin typeface="Calibri" pitchFamily="34" charset="0"/>
                <a:ea typeface="Calibri" pitchFamily="34" charset="-122"/>
                <a:cs typeface="Calibri" pitchFamily="34" charset="-120"/>
              </a:rPr>
              <a:t>UK: </a:t>
            </a:r>
            <a:r>
              <a:rPr lang="en-US" sz="1100" dirty="0">
                <a:solidFill>
                  <a:srgbClr val="141412"/>
                </a:solidFill>
                <a:latin typeface="Calibri" pitchFamily="34" charset="0"/>
                <a:ea typeface="Calibri" pitchFamily="34" charset="-122"/>
                <a:cs typeface="Calibri" pitchFamily="34" charset="-120"/>
              </a:rPr>
              <a:t>190 of 2,292 accounts needed; top account only 10.8%</a:t>
            </a:r>
            <a:endParaRPr lang="en-US" sz="1100" dirty="0"/>
          </a:p>
        </p:txBody>
      </p:sp>
      <p:sp>
        <p:nvSpPr>
          <p:cNvPr id="16" name="Shape 12"/>
          <p:cNvSpPr/>
          <p:nvPr/>
        </p:nvSpPr>
        <p:spPr>
          <a:xfrm>
            <a:off x="457200" y="6355080"/>
            <a:ext cx="11277295" cy="0"/>
          </a:xfrm>
          <a:prstGeom prst="line">
            <a:avLst/>
          </a:prstGeom>
          <a:noFill/>
          <a:ln w="9525">
            <a:solidFill>
              <a:srgbClr val="D6D4C8"/>
            </a:solidFill>
            <a:prstDash val="solid"/>
          </a:ln>
        </p:spPr>
      </p:sp>
      <p:sp>
        <p:nvSpPr>
          <p:cNvPr id="17" name="Text 13"/>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8" name="Text 14"/>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06 / 14</a:t>
            </a:r>
            <a:endParaRPr lang="en-US" sz="850" dirty="0"/>
          </a:p>
        </p:txBody>
      </p:sp>
      <p:pic>
        <p:nvPicPr>
          <p:cNvPr id="20" name="Imagen 19">
            <a:extLst>
              <a:ext uri="{FF2B5EF4-FFF2-40B4-BE49-F238E27FC236}">
                <a16:creationId xmlns:a16="http://schemas.microsoft.com/office/drawing/2014/main" id="{35A84F47-1193-02D1-2094-5D9B791C2CE4}"/>
              </a:ext>
            </a:extLst>
          </p:cNvPr>
          <p:cNvPicPr>
            <a:picLocks noChangeAspect="1"/>
          </p:cNvPicPr>
          <p:nvPr/>
        </p:nvPicPr>
        <p:blipFill>
          <a:blip r:embed="rId4"/>
          <a:stretch>
            <a:fillRect/>
          </a:stretch>
        </p:blipFill>
        <p:spPr>
          <a:xfrm>
            <a:off x="5934455" y="1453898"/>
            <a:ext cx="5870447" cy="2103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03  </a:t>
            </a:r>
            <a:r>
              <a:rPr lang="en-US" sz="1250" kern="0" spc="100" dirty="0">
                <a:solidFill>
                  <a:srgbClr val="5C5C54"/>
                </a:solidFill>
                <a:latin typeface="Courier New" pitchFamily="34" charset="0"/>
                <a:ea typeface="Courier New" pitchFamily="34" charset="-122"/>
                <a:cs typeface="Courier New" pitchFamily="34" charset="-120"/>
              </a:rPr>
              <a:t>— KEY FINDING — CUSTOMER, Q2</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400" b="1" dirty="0">
                <a:solidFill>
                  <a:srgbClr val="141412"/>
                </a:solidFill>
                <a:latin typeface="Bookman Old Style" pitchFamily="34" charset="0"/>
                <a:ea typeface="Bookman Old Style" pitchFamily="34" charset="-122"/>
                <a:cs typeface="Bookman Old Style" pitchFamily="34" charset="-120"/>
              </a:rPr>
              <a:t>What Do the Riskiest Accounts Look Like?</a:t>
            </a:r>
            <a:endParaRPr lang="en-US" sz="2400" dirty="0"/>
          </a:p>
        </p:txBody>
      </p:sp>
      <p:sp>
        <p:nvSpPr>
          <p:cNvPr id="4" name="Shape 2"/>
          <p:cNvSpPr/>
          <p:nvPr/>
        </p:nvSpPr>
        <p:spPr>
          <a:xfrm>
            <a:off x="448056" y="1408176"/>
            <a:ext cx="3172968" cy="3959352"/>
          </a:xfrm>
          <a:prstGeom prst="rect">
            <a:avLst/>
          </a:prstGeom>
          <a:ln w="9525">
            <a:solidFill>
              <a:srgbClr val="D6D4C8"/>
            </a:solidFill>
            <a:prstDash val="solid"/>
          </a:ln>
        </p:spPr>
      </p:sp>
      <p:pic>
        <p:nvPicPr>
          <p:cNvPr id="5" name="Image 0" descr="/home/claude/imgs/rfmr_heatmap__united_kingdom_top_30_accounts.png"/>
          <p:cNvPicPr>
            <a:picLocks noChangeAspect="1"/>
          </p:cNvPicPr>
          <p:nvPr/>
        </p:nvPicPr>
        <p:blipFill>
          <a:blip r:embed="rId3"/>
          <a:stretch>
            <a:fillRect/>
          </a:stretch>
        </p:blipFill>
        <p:spPr>
          <a:xfrm>
            <a:off x="502920" y="1463040"/>
            <a:ext cx="3063240" cy="3849624"/>
          </a:xfrm>
          <a:prstGeom prst="rect">
            <a:avLst/>
          </a:prstGeom>
        </p:spPr>
      </p:pic>
      <p:sp>
        <p:nvSpPr>
          <p:cNvPr id="6" name="Text 3"/>
          <p:cNvSpPr/>
          <p:nvPr/>
        </p:nvSpPr>
        <p:spPr>
          <a:xfrm>
            <a:off x="448056" y="5404104"/>
            <a:ext cx="333756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05  </a:t>
            </a:r>
            <a:r>
              <a:rPr lang="en-US" sz="900" kern="0" spc="20" dirty="0">
                <a:solidFill>
                  <a:srgbClr val="5C5C54"/>
                </a:solidFill>
                <a:latin typeface="Courier New" pitchFamily="34" charset="0"/>
                <a:ea typeface="Courier New" pitchFamily="34" charset="-122"/>
                <a:cs typeface="Courier New" pitchFamily="34" charset="-120"/>
              </a:rPr>
              <a:t>RFMR heatmap — UK, top 30 Pareto accounts</a:t>
            </a:r>
            <a:endParaRPr lang="en-US" sz="900" dirty="0"/>
          </a:p>
        </p:txBody>
      </p:sp>
      <p:sp>
        <p:nvSpPr>
          <p:cNvPr id="7" name="Shape 4"/>
          <p:cNvSpPr/>
          <p:nvPr/>
        </p:nvSpPr>
        <p:spPr>
          <a:xfrm>
            <a:off x="3831336" y="1408176"/>
            <a:ext cx="3950208" cy="3163824"/>
          </a:xfrm>
          <a:prstGeom prst="rect">
            <a:avLst/>
          </a:prstGeom>
          <a:ln w="9525">
            <a:solidFill>
              <a:srgbClr val="D6D4C8"/>
            </a:solidFill>
            <a:prstDash val="solid"/>
          </a:ln>
        </p:spPr>
      </p:sp>
      <p:pic>
        <p:nvPicPr>
          <p:cNvPr id="8" name="Image 1" descr="/home/claude/imgs/rfmr_heatmap__germany_all_19_pareto_accounts.png"/>
          <p:cNvPicPr>
            <a:picLocks noChangeAspect="1"/>
          </p:cNvPicPr>
          <p:nvPr/>
        </p:nvPicPr>
        <p:blipFill>
          <a:blip r:embed="rId4"/>
          <a:stretch>
            <a:fillRect/>
          </a:stretch>
        </p:blipFill>
        <p:spPr>
          <a:xfrm>
            <a:off x="3886200" y="1463040"/>
            <a:ext cx="3840480" cy="3054096"/>
          </a:xfrm>
          <a:prstGeom prst="rect">
            <a:avLst/>
          </a:prstGeom>
        </p:spPr>
      </p:pic>
      <p:sp>
        <p:nvSpPr>
          <p:cNvPr id="9" name="Text 5"/>
          <p:cNvSpPr/>
          <p:nvPr/>
        </p:nvSpPr>
        <p:spPr>
          <a:xfrm>
            <a:off x="3831336" y="4608576"/>
            <a:ext cx="411480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06  </a:t>
            </a:r>
            <a:r>
              <a:rPr lang="en-US" sz="900" kern="0" spc="20" dirty="0">
                <a:solidFill>
                  <a:srgbClr val="5C5C54"/>
                </a:solidFill>
                <a:latin typeface="Courier New" pitchFamily="34" charset="0"/>
                <a:ea typeface="Courier New" pitchFamily="34" charset="-122"/>
                <a:cs typeface="Courier New" pitchFamily="34" charset="-120"/>
              </a:rPr>
              <a:t>RFMR heatmap — Germany, all 19 Pareto accounts</a:t>
            </a:r>
            <a:endParaRPr lang="en-US" sz="900" dirty="0"/>
          </a:p>
        </p:txBody>
      </p:sp>
      <p:sp>
        <p:nvSpPr>
          <p:cNvPr id="10" name="Shape 6"/>
          <p:cNvSpPr/>
          <p:nvPr/>
        </p:nvSpPr>
        <p:spPr>
          <a:xfrm>
            <a:off x="3886200" y="5074920"/>
            <a:ext cx="3840480" cy="0"/>
          </a:xfrm>
          <a:prstGeom prst="line">
            <a:avLst/>
          </a:prstGeom>
          <a:noFill/>
          <a:ln w="6350">
            <a:solidFill>
              <a:srgbClr val="D6D4C8"/>
            </a:solidFill>
            <a:prstDash val="solid"/>
          </a:ln>
        </p:spPr>
      </p:sp>
      <p:sp>
        <p:nvSpPr>
          <p:cNvPr id="12" name="Shape 8"/>
          <p:cNvSpPr/>
          <p:nvPr/>
        </p:nvSpPr>
        <p:spPr>
          <a:xfrm>
            <a:off x="8001000" y="1463040"/>
            <a:ext cx="50292" cy="4709160"/>
          </a:xfrm>
          <a:prstGeom prst="rect">
            <a:avLst/>
          </a:prstGeom>
          <a:solidFill>
            <a:srgbClr val="C81E3A"/>
          </a:solidFill>
          <a:ln/>
        </p:spPr>
      </p:sp>
      <p:sp>
        <p:nvSpPr>
          <p:cNvPr id="13" name="Text 9"/>
          <p:cNvSpPr/>
          <p:nvPr/>
        </p:nvSpPr>
        <p:spPr>
          <a:xfrm>
            <a:off x="8257032" y="2561082"/>
            <a:ext cx="344728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GERMANY: TWO PROFILES</a:t>
            </a:r>
            <a:endParaRPr lang="en-US" sz="1050" dirty="0"/>
          </a:p>
        </p:txBody>
      </p:sp>
      <p:sp>
        <p:nvSpPr>
          <p:cNvPr id="14" name="Text 10"/>
          <p:cNvSpPr/>
          <p:nvPr/>
        </p:nvSpPr>
        <p:spPr>
          <a:xfrm>
            <a:off x="8257032" y="1408176"/>
            <a:ext cx="3429000" cy="4727448"/>
          </a:xfrm>
          <a:prstGeom prst="rect">
            <a:avLst/>
          </a:prstGeom>
          <a:noFill/>
          <a:ln/>
        </p:spPr>
        <p:txBody>
          <a:bodyPr wrap="square" rtlCol="0" anchor="ctr"/>
          <a:lstStyle/>
          <a:p>
            <a:pPr marL="0" indent="0">
              <a:lnSpc>
                <a:spcPct val="128000"/>
              </a:lnSpc>
              <a:buNone/>
            </a:pPr>
            <a:r>
              <a:rPr lang="en-US" sz="1250" b="1" dirty="0">
                <a:solidFill>
                  <a:srgbClr val="141412"/>
                </a:solidFill>
                <a:latin typeface="Bookman Old Style" pitchFamily="34" charset="0"/>
                <a:ea typeface="Bookman Old Style" pitchFamily="34" charset="-122"/>
                <a:cs typeface="Bookman Old Style" pitchFamily="34" charset="-120"/>
              </a:rPr>
              <a:t>One-Time Disengaged  </a:t>
            </a:r>
            <a:r>
              <a:rPr lang="en-US" sz="1100" dirty="0">
                <a:solidFill>
                  <a:srgbClr val="5C5C54"/>
                </a:solidFill>
                <a:latin typeface="Calibri" pitchFamily="34" charset="0"/>
                <a:ea typeface="Calibri" pitchFamily="34" charset="-122"/>
                <a:cs typeface="Calibri" pitchFamily="34" charset="-120"/>
              </a:rPr>
              <a:t>(R 4-5, F 2, M 2) — tried once, canceled, left.
</a:t>
            </a:r>
            <a:r>
              <a:rPr lang="en-US" sz="1250" b="1" dirty="0">
                <a:solidFill>
                  <a:srgbClr val="141412"/>
                </a:solidFill>
                <a:latin typeface="Bookman Old Style" pitchFamily="34" charset="0"/>
                <a:ea typeface="Bookman Old Style" pitchFamily="34" charset="-122"/>
                <a:cs typeface="Bookman Old Style" pitchFamily="34" charset="-120"/>
              </a:rPr>
              <a:t>High-Value Canceller  </a:t>
            </a:r>
            <a:r>
              <a:rPr lang="en-US" sz="1100" dirty="0">
                <a:solidFill>
                  <a:srgbClr val="5C5C54"/>
                </a:solidFill>
                <a:latin typeface="Calibri" pitchFamily="34" charset="0"/>
                <a:ea typeface="Calibri" pitchFamily="34" charset="-122"/>
                <a:cs typeface="Calibri" pitchFamily="34" charset="-120"/>
              </a:rPr>
              <a:t>(R 4-5, F 4-5, M 4-5) — frequent, big-spending, keeps canceling.
</a:t>
            </a:r>
            <a:r>
              <a:rPr lang="en-US" sz="1100" b="1" dirty="0">
                <a:solidFill>
                  <a:srgbClr val="141412"/>
                </a:solidFill>
                <a:latin typeface="Calibri" pitchFamily="34" charset="0"/>
                <a:ea typeface="Calibri" pitchFamily="34" charset="-122"/>
                <a:cs typeface="Calibri" pitchFamily="34" charset="-120"/>
              </a:rPr>
              <a:t>Next step:  </a:t>
            </a:r>
            <a:r>
              <a:rPr lang="en-US" sz="1100" dirty="0">
                <a:solidFill>
                  <a:srgbClr val="5C5C54"/>
                </a:solidFill>
                <a:latin typeface="Calibri" pitchFamily="34" charset="0"/>
                <a:ea typeface="Calibri" pitchFamily="34" charset="-122"/>
                <a:cs typeface="Calibri" pitchFamily="34" charset="-120"/>
              </a:rPr>
              <a:t>K-Means clustering on all 190 UK + 19 German Pareto accounts to validate these segments formally.</a:t>
            </a:r>
            <a:endParaRPr lang="en-US" sz="1250" dirty="0"/>
          </a:p>
        </p:txBody>
      </p:sp>
      <p:sp>
        <p:nvSpPr>
          <p:cNvPr id="15" name="Shape 11"/>
          <p:cNvSpPr/>
          <p:nvPr/>
        </p:nvSpPr>
        <p:spPr>
          <a:xfrm>
            <a:off x="457200" y="6355080"/>
            <a:ext cx="11277295" cy="0"/>
          </a:xfrm>
          <a:prstGeom prst="line">
            <a:avLst/>
          </a:prstGeom>
          <a:noFill/>
          <a:ln w="9525">
            <a:solidFill>
              <a:srgbClr val="D6D4C8"/>
            </a:solidFill>
            <a:prstDash val="solid"/>
          </a:ln>
        </p:spPr>
      </p:sp>
      <p:sp>
        <p:nvSpPr>
          <p:cNvPr id="16" name="Text 12"/>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7" name="Text 13"/>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07 / 14</a:t>
            </a:r>
            <a:endParaRPr lang="en-US" sz="850" dirty="0"/>
          </a:p>
        </p:txBody>
      </p:sp>
      <p:sp>
        <p:nvSpPr>
          <p:cNvPr id="18" name="Text 9">
            <a:extLst>
              <a:ext uri="{FF2B5EF4-FFF2-40B4-BE49-F238E27FC236}">
                <a16:creationId xmlns:a16="http://schemas.microsoft.com/office/drawing/2014/main" id="{F51354C8-1489-0C2D-DCBB-76379DA70748}"/>
              </a:ext>
            </a:extLst>
          </p:cNvPr>
          <p:cNvSpPr/>
          <p:nvPr/>
        </p:nvSpPr>
        <p:spPr>
          <a:xfrm>
            <a:off x="8257032" y="1440180"/>
            <a:ext cx="344728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UK: ONE PROFILES</a:t>
            </a:r>
            <a:endParaRPr lang="en-US" sz="1050" dirty="0"/>
          </a:p>
        </p:txBody>
      </p:sp>
      <p:sp>
        <p:nvSpPr>
          <p:cNvPr id="19" name="Text 7">
            <a:extLst>
              <a:ext uri="{FF2B5EF4-FFF2-40B4-BE49-F238E27FC236}">
                <a16:creationId xmlns:a16="http://schemas.microsoft.com/office/drawing/2014/main" id="{8F17B93E-4D37-B87B-B605-8530E833285E}"/>
              </a:ext>
            </a:extLst>
          </p:cNvPr>
          <p:cNvSpPr/>
          <p:nvPr/>
        </p:nvSpPr>
        <p:spPr>
          <a:xfrm>
            <a:off x="8257032" y="1572768"/>
            <a:ext cx="3176016" cy="758951"/>
          </a:xfrm>
          <a:prstGeom prst="rect">
            <a:avLst/>
          </a:prstGeom>
          <a:noFill/>
          <a:ln/>
        </p:spPr>
        <p:txBody>
          <a:bodyPr wrap="square" rtlCol="0" anchor="ctr"/>
          <a:lstStyle/>
          <a:p>
            <a:pPr>
              <a:lnSpc>
                <a:spcPct val="120000"/>
              </a:lnSpc>
            </a:pPr>
            <a:r>
              <a:rPr lang="en-US" sz="1050" b="1" dirty="0">
                <a:solidFill>
                  <a:srgbClr val="141412"/>
                </a:solidFill>
                <a:latin typeface="Bookman Old Style" pitchFamily="34" charset="0"/>
                <a:ea typeface="Bookman Old Style" pitchFamily="34" charset="-122"/>
                <a:cs typeface="Bookman Old Style" pitchFamily="34" charset="-120"/>
              </a:rPr>
              <a:t>One-Time Disengaged</a:t>
            </a:r>
            <a:r>
              <a:rPr lang="en-US" sz="1050" b="1" dirty="0">
                <a:solidFill>
                  <a:srgbClr val="9C7A4F"/>
                </a:solidFill>
                <a:latin typeface="Calibri" pitchFamily="34" charset="0"/>
                <a:ea typeface="Calibri" pitchFamily="34" charset="-122"/>
                <a:cs typeface="Calibri" pitchFamily="34" charset="-120"/>
              </a:rPr>
              <a:t> (</a:t>
            </a:r>
            <a:r>
              <a:rPr lang="en-US" sz="1050" dirty="0">
                <a:solidFill>
                  <a:srgbClr val="141412"/>
                </a:solidFill>
                <a:latin typeface="Calibri" pitchFamily="34" charset="0"/>
                <a:ea typeface="Calibri" pitchFamily="34" charset="-122"/>
                <a:cs typeface="Calibri" pitchFamily="34" charset="-120"/>
              </a:rPr>
              <a:t>R 1–2, F 1–3, M 3–4 — sizable customers, one big cancellation, then went quiet.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03  </a:t>
            </a:r>
            <a:r>
              <a:rPr lang="en-US" sz="1250" kern="0" spc="100" dirty="0">
                <a:solidFill>
                  <a:srgbClr val="5C5C54"/>
                </a:solidFill>
                <a:latin typeface="Courier New" pitchFamily="34" charset="0"/>
                <a:ea typeface="Courier New" pitchFamily="34" charset="-122"/>
                <a:cs typeface="Courier New" pitchFamily="34" charset="-120"/>
              </a:rPr>
              <a:t>— KEY FINDING — CUSTOMER, Q3</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400" b="1" dirty="0">
                <a:solidFill>
                  <a:srgbClr val="141412"/>
                </a:solidFill>
                <a:latin typeface="Bookman Old Style" pitchFamily="34" charset="0"/>
                <a:ea typeface="Bookman Old Style" pitchFamily="34" charset="-122"/>
                <a:cs typeface="Bookman Old Style" pitchFamily="34" charset="-120"/>
              </a:rPr>
              <a:t>Frequent Buyers Cancel Less — and More Predictably</a:t>
            </a:r>
            <a:endParaRPr lang="en-US" sz="2400" dirty="0"/>
          </a:p>
        </p:txBody>
      </p:sp>
      <p:sp>
        <p:nvSpPr>
          <p:cNvPr id="4" name="Shape 2"/>
          <p:cNvSpPr/>
          <p:nvPr/>
        </p:nvSpPr>
        <p:spPr>
          <a:xfrm>
            <a:off x="448056" y="1408176"/>
            <a:ext cx="5550408" cy="3310128"/>
          </a:xfrm>
          <a:prstGeom prst="rect">
            <a:avLst/>
          </a:prstGeom>
          <a:ln w="9525">
            <a:solidFill>
              <a:srgbClr val="D6D4C8"/>
            </a:solidFill>
            <a:prstDash val="solid"/>
          </a:ln>
        </p:spPr>
      </p:sp>
      <p:pic>
        <p:nvPicPr>
          <p:cNvPr id="5" name="Image 0" descr="/home/claude/imgs/purchase_frequency_vs_return_rate__united_kingdom.png"/>
          <p:cNvPicPr>
            <a:picLocks noChangeAspect="1"/>
          </p:cNvPicPr>
          <p:nvPr/>
        </p:nvPicPr>
        <p:blipFill>
          <a:blip r:embed="rId3"/>
          <a:stretch>
            <a:fillRect/>
          </a:stretch>
        </p:blipFill>
        <p:spPr>
          <a:xfrm>
            <a:off x="502920" y="1463040"/>
            <a:ext cx="5440680" cy="3200400"/>
          </a:xfrm>
          <a:prstGeom prst="rect">
            <a:avLst/>
          </a:prstGeom>
        </p:spPr>
      </p:pic>
      <p:sp>
        <p:nvSpPr>
          <p:cNvPr id="6" name="Text 3"/>
          <p:cNvSpPr/>
          <p:nvPr/>
        </p:nvSpPr>
        <p:spPr>
          <a:xfrm>
            <a:off x="448056" y="4754880"/>
            <a:ext cx="571500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07  </a:t>
            </a:r>
            <a:r>
              <a:rPr lang="en-US" sz="900" kern="0" spc="20" dirty="0">
                <a:solidFill>
                  <a:srgbClr val="5C5C54"/>
                </a:solidFill>
                <a:latin typeface="Courier New" pitchFamily="34" charset="0"/>
                <a:ea typeface="Courier New" pitchFamily="34" charset="-122"/>
                <a:cs typeface="Courier New" pitchFamily="34" charset="-120"/>
              </a:rPr>
              <a:t>Purchase frequency vs. return rate — United Kingdom</a:t>
            </a:r>
            <a:endParaRPr lang="en-US" sz="900" dirty="0"/>
          </a:p>
        </p:txBody>
      </p:sp>
      <p:sp>
        <p:nvSpPr>
          <p:cNvPr id="7" name="Shape 4"/>
          <p:cNvSpPr/>
          <p:nvPr/>
        </p:nvSpPr>
        <p:spPr>
          <a:xfrm>
            <a:off x="6208776" y="1408176"/>
            <a:ext cx="5550408" cy="3310128"/>
          </a:xfrm>
          <a:prstGeom prst="rect">
            <a:avLst/>
          </a:prstGeom>
          <a:ln w="9525">
            <a:solidFill>
              <a:srgbClr val="D6D4C8"/>
            </a:solidFill>
            <a:prstDash val="solid"/>
          </a:ln>
        </p:spPr>
      </p:sp>
      <p:pic>
        <p:nvPicPr>
          <p:cNvPr id="8" name="Image 1" descr="/home/claude/imgs/purchase_frequency_vs_return_rate__germany.png"/>
          <p:cNvPicPr>
            <a:picLocks noChangeAspect="1"/>
          </p:cNvPicPr>
          <p:nvPr/>
        </p:nvPicPr>
        <p:blipFill>
          <a:blip r:embed="rId4"/>
          <a:stretch>
            <a:fillRect/>
          </a:stretch>
        </p:blipFill>
        <p:spPr>
          <a:xfrm>
            <a:off x="6263640" y="1463040"/>
            <a:ext cx="5440680" cy="3200400"/>
          </a:xfrm>
          <a:prstGeom prst="rect">
            <a:avLst/>
          </a:prstGeom>
        </p:spPr>
      </p:pic>
      <p:sp>
        <p:nvSpPr>
          <p:cNvPr id="9" name="Text 5"/>
          <p:cNvSpPr/>
          <p:nvPr/>
        </p:nvSpPr>
        <p:spPr>
          <a:xfrm>
            <a:off x="6208776" y="4754880"/>
            <a:ext cx="571500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08  </a:t>
            </a:r>
            <a:r>
              <a:rPr lang="en-US" sz="900" kern="0" spc="20" dirty="0">
                <a:solidFill>
                  <a:srgbClr val="5C5C54"/>
                </a:solidFill>
                <a:latin typeface="Courier New" pitchFamily="34" charset="0"/>
                <a:ea typeface="Courier New" pitchFamily="34" charset="-122"/>
                <a:cs typeface="Courier New" pitchFamily="34" charset="-120"/>
              </a:rPr>
              <a:t>Purchase frequency vs. return rate — Germany</a:t>
            </a:r>
            <a:endParaRPr lang="en-US" sz="900" dirty="0"/>
          </a:p>
        </p:txBody>
      </p:sp>
      <p:sp>
        <p:nvSpPr>
          <p:cNvPr id="10" name="Shape 6"/>
          <p:cNvSpPr/>
          <p:nvPr/>
        </p:nvSpPr>
        <p:spPr>
          <a:xfrm>
            <a:off x="502920" y="5212080"/>
            <a:ext cx="11201400" cy="0"/>
          </a:xfrm>
          <a:prstGeom prst="line">
            <a:avLst/>
          </a:prstGeom>
          <a:noFill/>
          <a:ln w="9525">
            <a:solidFill>
              <a:srgbClr val="D6D4C8"/>
            </a:solidFill>
            <a:prstDash val="solid"/>
          </a:ln>
        </p:spPr>
      </p:sp>
      <p:sp>
        <p:nvSpPr>
          <p:cNvPr id="11" name="Text 7"/>
          <p:cNvSpPr/>
          <p:nvPr/>
        </p:nvSpPr>
        <p:spPr>
          <a:xfrm>
            <a:off x="502920" y="5349240"/>
            <a:ext cx="11155680" cy="365760"/>
          </a:xfrm>
          <a:prstGeom prst="rect">
            <a:avLst/>
          </a:prstGeom>
          <a:noFill/>
          <a:ln/>
        </p:spPr>
        <p:txBody>
          <a:bodyPr wrap="square" rtlCol="0" anchor="ctr"/>
          <a:lstStyle/>
          <a:p>
            <a:pPr marL="0" indent="0">
              <a:buNone/>
            </a:pPr>
            <a:r>
              <a:rPr lang="en-US" sz="1900" b="1" dirty="0">
                <a:solidFill>
                  <a:srgbClr val="C81E3A"/>
                </a:solidFill>
                <a:latin typeface="Bookman Old Style" pitchFamily="34" charset="0"/>
                <a:ea typeface="Bookman Old Style" pitchFamily="34" charset="-122"/>
                <a:cs typeface="Bookman Old Style" pitchFamily="34" charset="-120"/>
              </a:rPr>
              <a:t>r = –0.804  </a:t>
            </a:r>
            <a:r>
              <a:rPr lang="en-US" sz="1200" dirty="0">
                <a:solidFill>
                  <a:srgbClr val="5C5C54"/>
                </a:solidFill>
              </a:rPr>
              <a:t>(UK)      </a:t>
            </a:r>
            <a:r>
              <a:rPr lang="en-US" sz="1900" b="1" dirty="0">
                <a:solidFill>
                  <a:srgbClr val="C81E3A"/>
                </a:solidFill>
                <a:latin typeface="Bookman Old Style" pitchFamily="34" charset="0"/>
                <a:ea typeface="Bookman Old Style" pitchFamily="34" charset="-122"/>
                <a:cs typeface="Bookman Old Style" pitchFamily="34" charset="-120"/>
              </a:rPr>
              <a:t>r = –0.729  </a:t>
            </a:r>
            <a:r>
              <a:rPr lang="en-US" sz="1200" dirty="0">
                <a:solidFill>
                  <a:srgbClr val="141412"/>
                </a:solidFill>
              </a:rPr>
              <a:t>(Germany)   — both statistically significant (p &lt; 0.001)</a:t>
            </a:r>
            <a:endParaRPr lang="en-US" sz="1900" dirty="0"/>
          </a:p>
        </p:txBody>
      </p:sp>
      <p:sp>
        <p:nvSpPr>
          <p:cNvPr id="12" name="Text 8"/>
          <p:cNvSpPr/>
          <p:nvPr/>
        </p:nvSpPr>
        <p:spPr>
          <a:xfrm>
            <a:off x="502920" y="5715000"/>
            <a:ext cx="11155680" cy="685800"/>
          </a:xfrm>
          <a:prstGeom prst="rect">
            <a:avLst/>
          </a:prstGeom>
          <a:noFill/>
          <a:ln/>
        </p:spPr>
        <p:txBody>
          <a:bodyPr wrap="square" rtlCol="0" anchor="ctr"/>
          <a:lstStyle/>
          <a:p>
            <a:pPr marL="0" indent="0">
              <a:lnSpc>
                <a:spcPct val="125000"/>
              </a:lnSpc>
              <a:buNone/>
            </a:pPr>
            <a:r>
              <a:rPr lang="en-US" sz="1100" dirty="0">
                <a:solidFill>
                  <a:srgbClr val="5C5C54"/>
                </a:solidFill>
                <a:latin typeface="Calibri" pitchFamily="34" charset="0"/>
                <a:ea typeface="Calibri" pitchFamily="34" charset="-122"/>
                <a:cs typeface="Calibri" pitchFamily="34" charset="-120"/>
              </a:rPr>
              <a:t>Customers who buy most often return least. The scatter shows an L-shape in both markets: low-frequency buyers have wildly variable, often very high return rates; as frequency rises, return rate converges toward zero.</a:t>
            </a:r>
            <a:endParaRPr lang="en-US" sz="1100" dirty="0"/>
          </a:p>
        </p:txBody>
      </p:sp>
      <p:sp>
        <p:nvSpPr>
          <p:cNvPr id="13" name="Shape 9"/>
          <p:cNvSpPr/>
          <p:nvPr/>
        </p:nvSpPr>
        <p:spPr>
          <a:xfrm>
            <a:off x="457200" y="6355080"/>
            <a:ext cx="11277295" cy="0"/>
          </a:xfrm>
          <a:prstGeom prst="line">
            <a:avLst/>
          </a:prstGeom>
          <a:noFill/>
          <a:ln w="9525">
            <a:solidFill>
              <a:srgbClr val="D6D4C8"/>
            </a:solidFill>
            <a:prstDash val="solid"/>
          </a:ln>
        </p:spPr>
      </p:sp>
      <p:sp>
        <p:nvSpPr>
          <p:cNvPr id="14" name="Text 10"/>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5" name="Text 11"/>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08 / 14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04  </a:t>
            </a:r>
            <a:r>
              <a:rPr lang="en-US" sz="1250" kern="0" spc="100" dirty="0">
                <a:solidFill>
                  <a:srgbClr val="5C5C54"/>
                </a:solidFill>
                <a:latin typeface="Courier New" pitchFamily="34" charset="0"/>
                <a:ea typeface="Courier New" pitchFamily="34" charset="-122"/>
                <a:cs typeface="Courier New" pitchFamily="34" charset="-120"/>
              </a:rPr>
              <a:t>— KEY FINDING — PRODUCT, Q1</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400" b="1" dirty="0">
                <a:solidFill>
                  <a:srgbClr val="141412"/>
                </a:solidFill>
                <a:latin typeface="Bookman Old Style" pitchFamily="34" charset="0"/>
                <a:ea typeface="Bookman Old Style" pitchFamily="34" charset="-122"/>
                <a:cs typeface="Bookman Old Style" pitchFamily="34" charset="-120"/>
              </a:rPr>
              <a:t>The Biggest Loss Number Was a One-Time Event</a:t>
            </a:r>
            <a:endParaRPr lang="en-US" sz="2400" dirty="0"/>
          </a:p>
        </p:txBody>
      </p:sp>
      <p:sp>
        <p:nvSpPr>
          <p:cNvPr id="4" name="Text 2"/>
          <p:cNvSpPr/>
          <p:nvPr/>
        </p:nvSpPr>
        <p:spPr>
          <a:xfrm>
            <a:off x="502920" y="1417320"/>
            <a:ext cx="11201400" cy="685800"/>
          </a:xfrm>
          <a:prstGeom prst="rect">
            <a:avLst/>
          </a:prstGeom>
          <a:noFill/>
          <a:ln/>
        </p:spPr>
        <p:txBody>
          <a:bodyPr wrap="square" rtlCol="0" anchor="ctr"/>
          <a:lstStyle/>
          <a:p>
            <a:pPr marL="0" indent="0">
              <a:lnSpc>
                <a:spcPct val="125000"/>
              </a:lnSpc>
              <a:buNone/>
            </a:pPr>
            <a:r>
              <a:rPr lang="en-US" sz="1000" b="1" dirty="0">
                <a:solidFill>
                  <a:srgbClr val="9C7A4F"/>
                </a:solidFill>
                <a:latin typeface="Courier New" pitchFamily="34" charset="0"/>
                <a:ea typeface="Courier New" pitchFamily="34" charset="-122"/>
                <a:cs typeface="Courier New" pitchFamily="34" charset="-120"/>
              </a:rPr>
              <a:t>DATA PREP  </a:t>
            </a:r>
            <a:r>
              <a:rPr lang="en-US" sz="1100" dirty="0">
                <a:solidFill>
                  <a:srgbClr val="5C5C54"/>
                </a:solidFill>
                <a:latin typeface="Calibri" pitchFamily="34" charset="0"/>
                <a:ea typeface="Calibri" pitchFamily="34" charset="-122"/>
                <a:cs typeface="Calibri" pitchFamily="34" charset="-120"/>
              </a:rPr>
              <a:t>Cancellations flagged as StockCode M (“Manual”) — likely a manual reversal, but we can't tell if it's an accounting adjustment or a real cancellation — were excluded, since they can't be tied to any product. That took us from 1,048,576 rows to </a:t>
            </a:r>
            <a:r>
              <a:rPr lang="en-US" sz="1100" b="1" dirty="0">
                <a:solidFill>
                  <a:srgbClr val="141412"/>
                </a:solidFill>
                <a:latin typeface="Calibri" pitchFamily="34" charset="0"/>
                <a:ea typeface="Calibri" pitchFamily="34" charset="-122"/>
                <a:cs typeface="Calibri" pitchFamily="34" charset="-120"/>
              </a:rPr>
              <a:t>1,039,238 product-level records</a:t>
            </a:r>
            <a:r>
              <a:rPr lang="en-US" sz="1100" b="1" dirty="0">
                <a:solidFill>
                  <a:srgbClr val="5C5C54"/>
                </a:solidFill>
                <a:latin typeface="Calibri" pitchFamily="34" charset="0"/>
                <a:ea typeface="Calibri" pitchFamily="34" charset="-122"/>
                <a:cs typeface="Calibri" pitchFamily="34" charset="-120"/>
              </a:rPr>
              <a:t>.</a:t>
            </a:r>
            <a:endParaRPr lang="en-US" sz="1000" dirty="0"/>
          </a:p>
        </p:txBody>
      </p:sp>
      <p:sp>
        <p:nvSpPr>
          <p:cNvPr id="5" name="Shape 3"/>
          <p:cNvSpPr/>
          <p:nvPr/>
        </p:nvSpPr>
        <p:spPr>
          <a:xfrm>
            <a:off x="448056" y="2157984"/>
            <a:ext cx="5916168" cy="2532888"/>
          </a:xfrm>
          <a:prstGeom prst="rect">
            <a:avLst/>
          </a:prstGeom>
          <a:ln w="9525">
            <a:solidFill>
              <a:srgbClr val="D6D4C8"/>
            </a:solidFill>
            <a:prstDash val="solid"/>
          </a:ln>
        </p:spPr>
      </p:sp>
      <p:pic>
        <p:nvPicPr>
          <p:cNvPr id="6" name="Image 0" descr="/home/claude/imgs/prod_chart1_pareto.png"/>
          <p:cNvPicPr>
            <a:picLocks noChangeAspect="1"/>
          </p:cNvPicPr>
          <p:nvPr/>
        </p:nvPicPr>
        <p:blipFill>
          <a:blip r:embed="rId3"/>
          <a:stretch>
            <a:fillRect/>
          </a:stretch>
        </p:blipFill>
        <p:spPr>
          <a:xfrm>
            <a:off x="502920" y="2212848"/>
            <a:ext cx="5806440" cy="2423160"/>
          </a:xfrm>
          <a:prstGeom prst="rect">
            <a:avLst/>
          </a:prstGeom>
        </p:spPr>
      </p:pic>
      <p:sp>
        <p:nvSpPr>
          <p:cNvPr id="7" name="Text 4"/>
          <p:cNvSpPr/>
          <p:nvPr/>
        </p:nvSpPr>
        <p:spPr>
          <a:xfrm>
            <a:off x="448056" y="4727448"/>
            <a:ext cx="608076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09  </a:t>
            </a:r>
            <a:r>
              <a:rPr lang="en-US" sz="900" kern="0" spc="20" dirty="0">
                <a:solidFill>
                  <a:srgbClr val="5C5C54"/>
                </a:solidFill>
                <a:latin typeface="Courier New" pitchFamily="34" charset="0"/>
                <a:ea typeface="Courier New" pitchFamily="34" charset="-122"/>
                <a:cs typeface="Courier New" pitchFamily="34" charset="-120"/>
              </a:rPr>
              <a:t>Top 15 products by cancellation loss — Ceramic Jar highlighted</a:t>
            </a:r>
            <a:endParaRPr lang="en-US" sz="900" dirty="0"/>
          </a:p>
        </p:txBody>
      </p:sp>
      <p:sp>
        <p:nvSpPr>
          <p:cNvPr id="8" name="Text 5"/>
          <p:cNvSpPr/>
          <p:nvPr/>
        </p:nvSpPr>
        <p:spPr>
          <a:xfrm>
            <a:off x="502920" y="5349240"/>
            <a:ext cx="5806440" cy="914400"/>
          </a:xfrm>
          <a:prstGeom prst="rect">
            <a:avLst/>
          </a:prstGeom>
          <a:noFill/>
          <a:ln/>
        </p:spPr>
        <p:txBody>
          <a:bodyPr wrap="square" rtlCol="0" anchor="ctr"/>
          <a:lstStyle/>
          <a:p>
            <a:pPr marL="0" indent="0">
              <a:lnSpc>
                <a:spcPct val="120000"/>
              </a:lnSpc>
              <a:buNone/>
            </a:pPr>
            <a:r>
              <a:rPr lang="en-US" sz="1050" i="1" dirty="0">
                <a:solidFill>
                  <a:srgbClr val="5C5C54"/>
                </a:solidFill>
                <a:latin typeface="Calibri" pitchFamily="34" charset="0"/>
                <a:ea typeface="Calibri" pitchFamily="34" charset="-122"/>
                <a:cs typeface="Calibri" pitchFamily="34" charset="-120"/>
              </a:rPr>
              <a:t>Ranked by absolute £ loss — the Ceramic Jar (red) tops the list, but ranking by return rate tells a very different story (e.g. Vintage Blue Vacuum Flask at 100%).</a:t>
            </a:r>
            <a:endParaRPr lang="en-US" sz="1050" dirty="0"/>
          </a:p>
        </p:txBody>
      </p:sp>
      <p:sp>
        <p:nvSpPr>
          <p:cNvPr id="9" name="Shape 6"/>
          <p:cNvSpPr/>
          <p:nvPr/>
        </p:nvSpPr>
        <p:spPr>
          <a:xfrm>
            <a:off x="6574536" y="2157984"/>
            <a:ext cx="5184648" cy="2121408"/>
          </a:xfrm>
          <a:prstGeom prst="rect">
            <a:avLst/>
          </a:prstGeom>
          <a:ln w="9525">
            <a:solidFill>
              <a:srgbClr val="D6D4C8"/>
            </a:solidFill>
            <a:prstDash val="solid"/>
          </a:ln>
        </p:spPr>
      </p:sp>
      <p:pic>
        <p:nvPicPr>
          <p:cNvPr id="10" name="Image 1" descr="/home/claude/imgs/prod_chart3_jar.png"/>
          <p:cNvPicPr>
            <a:picLocks noChangeAspect="1"/>
          </p:cNvPicPr>
          <p:nvPr/>
        </p:nvPicPr>
        <p:blipFill>
          <a:blip r:embed="rId4"/>
          <a:stretch>
            <a:fillRect/>
          </a:stretch>
        </p:blipFill>
        <p:spPr>
          <a:xfrm>
            <a:off x="6629400" y="2212848"/>
            <a:ext cx="5074920" cy="2011680"/>
          </a:xfrm>
          <a:prstGeom prst="rect">
            <a:avLst/>
          </a:prstGeom>
        </p:spPr>
      </p:pic>
      <p:sp>
        <p:nvSpPr>
          <p:cNvPr id="11" name="Text 7"/>
          <p:cNvSpPr/>
          <p:nvPr/>
        </p:nvSpPr>
        <p:spPr>
          <a:xfrm>
            <a:off x="6574536" y="4315968"/>
            <a:ext cx="534924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10  </a:t>
            </a:r>
            <a:r>
              <a:rPr lang="en-US" sz="900" kern="0" spc="20" dirty="0">
                <a:solidFill>
                  <a:srgbClr val="5C5C54"/>
                </a:solidFill>
                <a:latin typeface="Courier New" pitchFamily="34" charset="0"/>
                <a:ea typeface="Courier New" pitchFamily="34" charset="-122"/>
                <a:cs typeface="Courier New" pitchFamily="34" charset="-120"/>
              </a:rPr>
              <a:t>Medium Ceramic Top Storage Jar — monthly sales vs. cancellations</a:t>
            </a:r>
            <a:endParaRPr lang="en-US" sz="900" dirty="0"/>
          </a:p>
        </p:txBody>
      </p:sp>
      <p:sp>
        <p:nvSpPr>
          <p:cNvPr id="12" name="Shape 8"/>
          <p:cNvSpPr/>
          <p:nvPr/>
        </p:nvSpPr>
        <p:spPr>
          <a:xfrm>
            <a:off x="6629400" y="4709160"/>
            <a:ext cx="50292" cy="1417320"/>
          </a:xfrm>
          <a:prstGeom prst="rect">
            <a:avLst/>
          </a:prstGeom>
          <a:solidFill>
            <a:srgbClr val="C81E3A"/>
          </a:solidFill>
          <a:ln/>
        </p:spPr>
      </p:sp>
      <p:sp>
        <p:nvSpPr>
          <p:cNvPr id="13" name="Text 9"/>
          <p:cNvSpPr/>
          <p:nvPr/>
        </p:nvSpPr>
        <p:spPr>
          <a:xfrm>
            <a:off x="6885432" y="4709160"/>
            <a:ext cx="481888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BUSINESS INSIGHT</a:t>
            </a:r>
            <a:endParaRPr lang="en-US" sz="1050" dirty="0"/>
          </a:p>
        </p:txBody>
      </p:sp>
      <p:sp>
        <p:nvSpPr>
          <p:cNvPr id="14" name="Text 10"/>
          <p:cNvSpPr/>
          <p:nvPr/>
        </p:nvSpPr>
        <p:spPr>
          <a:xfrm>
            <a:off x="6885432" y="5038344"/>
            <a:ext cx="4800600" cy="1051560"/>
          </a:xfrm>
          <a:prstGeom prst="rect">
            <a:avLst/>
          </a:prstGeom>
          <a:noFill/>
          <a:ln/>
        </p:spPr>
        <p:txBody>
          <a:bodyPr wrap="square" rtlCol="0" anchor="ctr"/>
          <a:lstStyle/>
          <a:p>
            <a:pPr marL="0" indent="0">
              <a:lnSpc>
                <a:spcPct val="128000"/>
              </a:lnSpc>
              <a:buNone/>
            </a:pPr>
            <a:r>
              <a:rPr lang="en-US" sz="1050" dirty="0">
                <a:solidFill>
                  <a:srgbClr val="141412"/>
                </a:solidFill>
                <a:latin typeface="Calibri" pitchFamily="34" charset="0"/>
                <a:ea typeface="Calibri" pitchFamily="34" charset="-122"/>
                <a:cs typeface="Calibri" pitchFamily="34" charset="-120"/>
              </a:rPr>
              <a:t>The £77,480 / 48.9% Ceramic Jar figure is one customer's single 74,215-unit cancellation — a one-off, not a quality issue. Several SKUs also run 100% return rates (e.g. Vintage Blue Vacuum Flask) — future repricing/discontinuation candidates.</a:t>
            </a:r>
            <a:endParaRPr lang="en-US" sz="1050" dirty="0"/>
          </a:p>
        </p:txBody>
      </p:sp>
      <p:sp>
        <p:nvSpPr>
          <p:cNvPr id="15" name="Shape 11"/>
          <p:cNvSpPr/>
          <p:nvPr/>
        </p:nvSpPr>
        <p:spPr>
          <a:xfrm>
            <a:off x="457200" y="6355080"/>
            <a:ext cx="11277295" cy="0"/>
          </a:xfrm>
          <a:prstGeom prst="line">
            <a:avLst/>
          </a:prstGeom>
          <a:noFill/>
          <a:ln w="9525">
            <a:solidFill>
              <a:srgbClr val="D6D4C8"/>
            </a:solidFill>
            <a:prstDash val="solid"/>
          </a:ln>
        </p:spPr>
      </p:sp>
      <p:sp>
        <p:nvSpPr>
          <p:cNvPr id="16" name="Text 12"/>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7" name="Text 13"/>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09 / 14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04  </a:t>
            </a:r>
            <a:r>
              <a:rPr lang="en-US" sz="1250" kern="0" spc="100" dirty="0">
                <a:solidFill>
                  <a:srgbClr val="5C5C54"/>
                </a:solidFill>
                <a:latin typeface="Courier New" pitchFamily="34" charset="0"/>
                <a:ea typeface="Courier New" pitchFamily="34" charset="-122"/>
                <a:cs typeface="Courier New" pitchFamily="34" charset="-120"/>
              </a:rPr>
              <a:t>— KEY FINDING — PRODUCT, Q2</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300" b="1" dirty="0">
                <a:solidFill>
                  <a:srgbClr val="141412"/>
                </a:solidFill>
                <a:latin typeface="Bookman Old Style" pitchFamily="34" charset="0"/>
                <a:ea typeface="Bookman Old Style" pitchFamily="34" charset="-122"/>
                <a:cs typeface="Bookman Old Style" pitchFamily="34" charset="-120"/>
              </a:rPr>
              <a:t>Cheap Items Lose by Volume, Expensive Items Lose by Rate</a:t>
            </a:r>
            <a:endParaRPr lang="en-US" sz="2300" dirty="0"/>
          </a:p>
        </p:txBody>
      </p:sp>
      <p:sp>
        <p:nvSpPr>
          <p:cNvPr id="4" name="Shape 2"/>
          <p:cNvSpPr/>
          <p:nvPr/>
        </p:nvSpPr>
        <p:spPr>
          <a:xfrm>
            <a:off x="448056" y="1545336"/>
            <a:ext cx="7196328" cy="3657600"/>
          </a:xfrm>
          <a:prstGeom prst="rect">
            <a:avLst/>
          </a:prstGeom>
          <a:ln w="9525">
            <a:solidFill>
              <a:srgbClr val="D6D4C8"/>
            </a:solidFill>
            <a:prstDash val="solid"/>
          </a:ln>
        </p:spPr>
      </p:sp>
      <p:pic>
        <p:nvPicPr>
          <p:cNvPr id="5" name="Image 0" descr="/home/claude/imgs/prod_chart2_pricebands.png"/>
          <p:cNvPicPr>
            <a:picLocks noChangeAspect="1"/>
          </p:cNvPicPr>
          <p:nvPr/>
        </p:nvPicPr>
        <p:blipFill>
          <a:blip r:embed="rId3"/>
          <a:stretch>
            <a:fillRect/>
          </a:stretch>
        </p:blipFill>
        <p:spPr>
          <a:xfrm>
            <a:off x="502920" y="1600200"/>
            <a:ext cx="7086600" cy="3547872"/>
          </a:xfrm>
          <a:prstGeom prst="rect">
            <a:avLst/>
          </a:prstGeom>
        </p:spPr>
      </p:pic>
      <p:sp>
        <p:nvSpPr>
          <p:cNvPr id="6" name="Text 3"/>
          <p:cNvSpPr/>
          <p:nvPr/>
        </p:nvSpPr>
        <p:spPr>
          <a:xfrm>
            <a:off x="448056" y="5239512"/>
            <a:ext cx="736092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11  </a:t>
            </a:r>
            <a:r>
              <a:rPr lang="en-US" sz="900" kern="0" spc="20" dirty="0">
                <a:solidFill>
                  <a:srgbClr val="5C5C54"/>
                </a:solidFill>
                <a:latin typeface="Courier New" pitchFamily="34" charset="0"/>
                <a:ea typeface="Courier New" pitchFamily="34" charset="-122"/>
                <a:cs typeface="Courier New" pitchFamily="34" charset="-120"/>
              </a:rPr>
              <a:t>Cancellation loss (£) and return rate (%) by price band</a:t>
            </a:r>
            <a:endParaRPr lang="en-US" sz="900" dirty="0"/>
          </a:p>
        </p:txBody>
      </p:sp>
      <p:sp>
        <p:nvSpPr>
          <p:cNvPr id="7" name="Shape 4"/>
          <p:cNvSpPr/>
          <p:nvPr/>
        </p:nvSpPr>
        <p:spPr>
          <a:xfrm>
            <a:off x="7955280" y="1600200"/>
            <a:ext cx="50292" cy="4663440"/>
          </a:xfrm>
          <a:prstGeom prst="rect">
            <a:avLst/>
          </a:prstGeom>
          <a:solidFill>
            <a:srgbClr val="C81E3A"/>
          </a:solidFill>
          <a:ln/>
        </p:spPr>
      </p:sp>
      <p:sp>
        <p:nvSpPr>
          <p:cNvPr id="8" name="Text 5"/>
          <p:cNvSpPr/>
          <p:nvPr/>
        </p:nvSpPr>
        <p:spPr>
          <a:xfrm>
            <a:off x="8211312" y="1600200"/>
            <a:ext cx="349300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WHAT THE BANDS SHOW</a:t>
            </a:r>
            <a:endParaRPr lang="en-US" sz="1050" dirty="0"/>
          </a:p>
        </p:txBody>
      </p:sp>
      <p:sp>
        <p:nvSpPr>
          <p:cNvPr id="9" name="Text 6"/>
          <p:cNvSpPr/>
          <p:nvPr/>
        </p:nvSpPr>
        <p:spPr>
          <a:xfrm>
            <a:off x="8211312" y="1929384"/>
            <a:ext cx="3474720" cy="4297680"/>
          </a:xfrm>
          <a:prstGeom prst="rect">
            <a:avLst/>
          </a:prstGeom>
          <a:noFill/>
          <a:ln/>
        </p:spPr>
        <p:txBody>
          <a:bodyPr wrap="square" rtlCol="0" anchor="ctr"/>
          <a:lstStyle/>
          <a:p>
            <a:pPr marL="0" indent="0">
              <a:lnSpc>
                <a:spcPct val="128000"/>
              </a:lnSpc>
              <a:buNone/>
            </a:pPr>
            <a:r>
              <a:rPr lang="en-US" sz="1350" b="1" dirty="0">
                <a:solidFill>
                  <a:srgbClr val="141412"/>
                </a:solidFill>
                <a:latin typeface="Bookman Old Style" pitchFamily="34" charset="0"/>
                <a:ea typeface="Bookman Old Style" pitchFamily="34" charset="-122"/>
                <a:cs typeface="Bookman Old Style" pitchFamily="34" charset="-120"/>
              </a:rPr>
              <a:t>£1–3 band = 47.9% of loss </a:t>
            </a:r>
            <a:r>
              <a:rPr lang="en-US" sz="1100" dirty="0">
                <a:solidFill>
                  <a:srgbClr val="5C5C54"/>
                </a:solidFill>
                <a:latin typeface="Calibri" pitchFamily="34" charset="0"/>
                <a:ea typeface="Calibri" pitchFamily="34" charset="-122"/>
                <a:cs typeface="Calibri" pitchFamily="34" charset="-120"/>
              </a:rPr>
              <a:t>(£279,211) — simply because most of the catalog is priced there.
</a:t>
            </a:r>
            <a:r>
              <a:rPr lang="en-US" sz="1250" b="1" dirty="0">
                <a:solidFill>
                  <a:srgbClr val="141412"/>
                </a:solidFill>
                <a:latin typeface="Calibri" pitchFamily="34" charset="0"/>
                <a:ea typeface="Calibri" pitchFamily="34" charset="-122"/>
                <a:cs typeface="Calibri" pitchFamily="34" charset="-120"/>
              </a:rPr>
              <a:t>Return rate climbs with price: </a:t>
            </a:r>
            <a:r>
              <a:rPr lang="en-US" sz="1100" dirty="0">
                <a:solidFill>
                  <a:srgbClr val="5C5C54"/>
                </a:solidFill>
                <a:latin typeface="Calibri" pitchFamily="34" charset="0"/>
                <a:ea typeface="Calibri" pitchFamily="34" charset="-122"/>
                <a:cs typeface="Calibri" pitchFamily="34" charset="-120"/>
              </a:rPr>
              <a:t>3.1% (&lt;£1) → 15.7% (&gt;£50) — a 5x jump.
</a:t>
            </a:r>
            <a:r>
              <a:rPr lang="en-US" sz="1150" b="1" dirty="0">
                <a:solidFill>
                  <a:srgbClr val="C81E3A"/>
                </a:solidFill>
                <a:latin typeface="Calibri" pitchFamily="34" charset="0"/>
                <a:ea typeface="Calibri" pitchFamily="34" charset="-122"/>
                <a:cs typeface="Calibri" pitchFamily="34" charset="-120"/>
              </a:rPr>
              <a:t>So what: </a:t>
            </a:r>
            <a:r>
              <a:rPr lang="en-US" sz="1100" dirty="0">
                <a:solidFill>
                  <a:srgbClr val="5C5C54"/>
                </a:solidFill>
                <a:latin typeface="Calibri" pitchFamily="34" charset="0"/>
                <a:ea typeface="Calibri" pitchFamily="34" charset="-122"/>
                <a:cs typeface="Calibri" pitchFamily="34" charset="-120"/>
              </a:rPr>
              <a:t> Expensive items need a quality or fulfillment review.</a:t>
            </a:r>
            <a:endParaRPr lang="en-US" sz="1350" dirty="0"/>
          </a:p>
        </p:txBody>
      </p:sp>
      <p:sp>
        <p:nvSpPr>
          <p:cNvPr id="10" name="Shape 7"/>
          <p:cNvSpPr/>
          <p:nvPr/>
        </p:nvSpPr>
        <p:spPr>
          <a:xfrm>
            <a:off x="457200" y="6355080"/>
            <a:ext cx="11277295" cy="0"/>
          </a:xfrm>
          <a:prstGeom prst="line">
            <a:avLst/>
          </a:prstGeom>
          <a:noFill/>
          <a:ln w="9525">
            <a:solidFill>
              <a:srgbClr val="D6D4C8"/>
            </a:solidFill>
            <a:prstDash val="solid"/>
          </a:ln>
        </p:spPr>
      </p:sp>
      <p:sp>
        <p:nvSpPr>
          <p:cNvPr id="11" name="Text 8"/>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2" name="Text 9"/>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10 / 14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04  </a:t>
            </a:r>
            <a:r>
              <a:rPr lang="en-US" sz="1250" kern="0" spc="100" dirty="0">
                <a:solidFill>
                  <a:srgbClr val="5C5C54"/>
                </a:solidFill>
                <a:latin typeface="Courier New" pitchFamily="34" charset="0"/>
                <a:ea typeface="Courier New" pitchFamily="34" charset="-122"/>
                <a:cs typeface="Courier New" pitchFamily="34" charset="-120"/>
              </a:rPr>
              <a:t>— KEY FINDING — PRODUCT, Q3</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300" b="1" dirty="0">
                <a:solidFill>
                  <a:srgbClr val="141412"/>
                </a:solidFill>
                <a:latin typeface="Bookman Old Style" pitchFamily="34" charset="0"/>
                <a:ea typeface="Bookman Old Style" pitchFamily="34" charset="-122"/>
                <a:cs typeface="Bookman Old Style" pitchFamily="34" charset="-120"/>
              </a:rPr>
              <a:t>A Broader Pareto Pattern — With Two Real Signals</a:t>
            </a:r>
            <a:endParaRPr lang="en-US" sz="2300" dirty="0"/>
          </a:p>
        </p:txBody>
      </p:sp>
      <p:sp>
        <p:nvSpPr>
          <p:cNvPr id="4" name="Text 2"/>
          <p:cNvSpPr/>
          <p:nvPr/>
        </p:nvSpPr>
        <p:spPr>
          <a:xfrm>
            <a:off x="502920" y="1417320"/>
            <a:ext cx="11201400" cy="685800"/>
          </a:xfrm>
          <a:prstGeom prst="rect">
            <a:avLst/>
          </a:prstGeom>
          <a:noFill/>
          <a:ln/>
        </p:spPr>
        <p:txBody>
          <a:bodyPr wrap="square" rtlCol="0" anchor="ctr"/>
          <a:lstStyle/>
          <a:p>
            <a:pPr marL="0" indent="0">
              <a:lnSpc>
                <a:spcPct val="125000"/>
              </a:lnSpc>
              <a:buNone/>
            </a:pPr>
            <a:r>
              <a:rPr lang="en-US" sz="1500" b="1" dirty="0">
                <a:solidFill>
                  <a:srgbClr val="C81E3A"/>
                </a:solidFill>
                <a:latin typeface="Bookman Old Style" pitchFamily="34" charset="0"/>
                <a:ea typeface="Bookman Old Style" pitchFamily="34" charset="-122"/>
                <a:cs typeface="Bookman Old Style" pitchFamily="34" charset="-120"/>
              </a:rPr>
              <a:t>438 of 3,058 SKUs (14.3%) </a:t>
            </a:r>
            <a:r>
              <a:rPr lang="en-US" sz="1150" dirty="0">
                <a:solidFill>
                  <a:srgbClr val="141412"/>
                </a:solidFill>
                <a:latin typeface="Calibri" pitchFamily="34" charset="0"/>
                <a:ea typeface="Calibri" pitchFamily="34" charset="-122"/>
                <a:cs typeface="Calibri" pitchFamily="34" charset="-120"/>
              </a:rPr>
              <a:t>account for 80% of product cancellation loss — the same Pareto pattern as geography (1 country = 85%), but far </a:t>
            </a:r>
            <a:r>
              <a:rPr lang="en-US" sz="1150" b="1" dirty="0">
                <a:solidFill>
                  <a:srgbClr val="141412"/>
                </a:solidFill>
                <a:latin typeface="Calibri" pitchFamily="34" charset="0"/>
                <a:ea typeface="Calibri" pitchFamily="34" charset="-122"/>
                <a:cs typeface="Calibri" pitchFamily="34" charset="-120"/>
              </a:rPr>
              <a:t>broader</a:t>
            </a:r>
            <a:r>
              <a:rPr lang="en-US" sz="1150" dirty="0">
                <a:solidFill>
                  <a:srgbClr val="141412"/>
                </a:solidFill>
                <a:latin typeface="Calibri" pitchFamily="34" charset="0"/>
                <a:ea typeface="Calibri" pitchFamily="34" charset="-122"/>
                <a:cs typeface="Calibri" pitchFamily="34" charset="-120"/>
              </a:rPr>
              <a:t>, so category/price-band management beats SKU-by-SKU management.</a:t>
            </a:r>
            <a:endParaRPr lang="en-US" sz="1500" dirty="0"/>
          </a:p>
        </p:txBody>
      </p:sp>
      <p:sp>
        <p:nvSpPr>
          <p:cNvPr id="5" name="Shape 3"/>
          <p:cNvSpPr/>
          <p:nvPr/>
        </p:nvSpPr>
        <p:spPr>
          <a:xfrm>
            <a:off x="448056" y="2157984"/>
            <a:ext cx="6053328" cy="3767328"/>
          </a:xfrm>
          <a:prstGeom prst="rect">
            <a:avLst/>
          </a:prstGeom>
          <a:ln w="9525">
            <a:solidFill>
              <a:srgbClr val="D6D4C8"/>
            </a:solidFill>
            <a:prstDash val="solid"/>
          </a:ln>
        </p:spPr>
      </p:sp>
      <p:pic>
        <p:nvPicPr>
          <p:cNvPr id="6" name="Image 0" descr="/home/claude/imgs/prod_chart6_key_accounts.png"/>
          <p:cNvPicPr>
            <a:picLocks noChangeAspect="1"/>
          </p:cNvPicPr>
          <p:nvPr/>
        </p:nvPicPr>
        <p:blipFill>
          <a:blip r:embed="rId3"/>
          <a:stretch>
            <a:fillRect/>
          </a:stretch>
        </p:blipFill>
        <p:spPr>
          <a:xfrm>
            <a:off x="502920" y="2212848"/>
            <a:ext cx="5943600" cy="3657600"/>
          </a:xfrm>
          <a:prstGeom prst="rect">
            <a:avLst/>
          </a:prstGeom>
        </p:spPr>
      </p:pic>
      <p:sp>
        <p:nvSpPr>
          <p:cNvPr id="7" name="Text 4"/>
          <p:cNvSpPr/>
          <p:nvPr/>
        </p:nvSpPr>
        <p:spPr>
          <a:xfrm>
            <a:off x="448056" y="5961888"/>
            <a:ext cx="621792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12  </a:t>
            </a:r>
            <a:r>
              <a:rPr lang="en-US" sz="900" kern="0" spc="20" dirty="0">
                <a:solidFill>
                  <a:srgbClr val="5C5C54"/>
                </a:solidFill>
                <a:latin typeface="Courier New" pitchFamily="34" charset="0"/>
                <a:ea typeface="Courier New" pitchFamily="34" charset="-122"/>
                <a:cs typeface="Courier New" pitchFamily="34" charset="-120"/>
              </a:rPr>
              <a:t>Key account product breakdown — EIRE, Norway, France, Spain</a:t>
            </a:r>
            <a:endParaRPr lang="en-US" sz="900" dirty="0"/>
          </a:p>
        </p:txBody>
      </p:sp>
      <p:sp>
        <p:nvSpPr>
          <p:cNvPr id="8" name="Shape 5"/>
          <p:cNvSpPr/>
          <p:nvPr/>
        </p:nvSpPr>
        <p:spPr>
          <a:xfrm rot="2700000">
            <a:off x="6766560" y="2395728"/>
            <a:ext cx="100584" cy="100584"/>
          </a:xfrm>
          <a:prstGeom prst="rect">
            <a:avLst/>
          </a:prstGeom>
          <a:solidFill>
            <a:srgbClr val="9C7A4F"/>
          </a:solidFill>
          <a:ln/>
        </p:spPr>
      </p:sp>
      <p:sp>
        <p:nvSpPr>
          <p:cNvPr id="9" name="Shape 6"/>
          <p:cNvSpPr/>
          <p:nvPr/>
        </p:nvSpPr>
        <p:spPr>
          <a:xfrm>
            <a:off x="6802770" y="2431938"/>
            <a:ext cx="28164" cy="28164"/>
          </a:xfrm>
          <a:prstGeom prst="ellipse">
            <a:avLst/>
          </a:prstGeom>
          <a:solidFill>
            <a:srgbClr val="FFFFFF"/>
          </a:solidFill>
          <a:ln/>
        </p:spPr>
      </p:sp>
      <p:sp>
        <p:nvSpPr>
          <p:cNvPr id="10" name="Text 7"/>
          <p:cNvSpPr/>
          <p:nvPr/>
        </p:nvSpPr>
        <p:spPr>
          <a:xfrm>
            <a:off x="7022592" y="2286000"/>
            <a:ext cx="4663440" cy="274320"/>
          </a:xfrm>
          <a:prstGeom prst="rect">
            <a:avLst/>
          </a:prstGeom>
          <a:noFill/>
          <a:ln/>
        </p:spPr>
        <p:txBody>
          <a:bodyPr wrap="square" rtlCol="0" anchor="ctr"/>
          <a:lstStyle/>
          <a:p>
            <a:pPr marL="0" indent="0">
              <a:buNone/>
            </a:pPr>
            <a:r>
              <a:rPr lang="en-US" sz="1300" b="1" dirty="0">
                <a:solidFill>
                  <a:srgbClr val="141412"/>
                </a:solidFill>
                <a:latin typeface="Bookman Old Style" pitchFamily="34" charset="0"/>
                <a:ea typeface="Bookman Old Style" pitchFamily="34" charset="-122"/>
                <a:cs typeface="Bookman Old Style" pitchFamily="34" charset="-120"/>
              </a:rPr>
              <a:t>Norway</a:t>
            </a:r>
            <a:endParaRPr lang="en-US" sz="1300" dirty="0"/>
          </a:p>
        </p:txBody>
      </p:sp>
      <p:sp>
        <p:nvSpPr>
          <p:cNvPr id="11" name="Text 8"/>
          <p:cNvSpPr/>
          <p:nvPr/>
        </p:nvSpPr>
        <p:spPr>
          <a:xfrm>
            <a:off x="7022592" y="2578608"/>
            <a:ext cx="4663440" cy="502920"/>
          </a:xfrm>
          <a:prstGeom prst="rect">
            <a:avLst/>
          </a:prstGeom>
          <a:noFill/>
          <a:ln/>
        </p:spPr>
        <p:txBody>
          <a:bodyPr wrap="square" rtlCol="0" anchor="ctr"/>
          <a:lstStyle/>
          <a:p>
            <a:pPr marL="0" indent="0">
              <a:lnSpc>
                <a:spcPct val="115000"/>
              </a:lnSpc>
              <a:buNone/>
            </a:pPr>
            <a:r>
              <a:rPr lang="en-US" sz="1050" dirty="0">
                <a:solidFill>
                  <a:srgbClr val="5C5C54"/>
                </a:solidFill>
                <a:latin typeface="Calibri" pitchFamily="34" charset="0"/>
                <a:ea typeface="Calibri" pitchFamily="34" charset="-122"/>
                <a:cs typeface="Calibri" pitchFamily="34" charset="-120"/>
              </a:rPr>
              <a:t>No signal — once StockCode M is stripped out, activity is gone.</a:t>
            </a:r>
            <a:endParaRPr lang="en-US" sz="1050" dirty="0"/>
          </a:p>
        </p:txBody>
      </p:sp>
      <p:sp>
        <p:nvSpPr>
          <p:cNvPr id="12" name="Shape 9"/>
          <p:cNvSpPr/>
          <p:nvPr/>
        </p:nvSpPr>
        <p:spPr>
          <a:xfrm>
            <a:off x="6766560" y="3172968"/>
            <a:ext cx="4937760" cy="0"/>
          </a:xfrm>
          <a:prstGeom prst="line">
            <a:avLst/>
          </a:prstGeom>
          <a:noFill/>
          <a:ln w="6350">
            <a:solidFill>
              <a:srgbClr val="D6D4C8"/>
            </a:solidFill>
            <a:prstDash val="solid"/>
          </a:ln>
        </p:spPr>
      </p:sp>
      <p:sp>
        <p:nvSpPr>
          <p:cNvPr id="13" name="Shape 10"/>
          <p:cNvSpPr/>
          <p:nvPr/>
        </p:nvSpPr>
        <p:spPr>
          <a:xfrm rot="2700000">
            <a:off x="6766560" y="3355848"/>
            <a:ext cx="100584" cy="100584"/>
          </a:xfrm>
          <a:prstGeom prst="rect">
            <a:avLst/>
          </a:prstGeom>
          <a:solidFill>
            <a:srgbClr val="9C7A4F"/>
          </a:solidFill>
          <a:ln/>
        </p:spPr>
      </p:sp>
      <p:sp>
        <p:nvSpPr>
          <p:cNvPr id="14" name="Shape 11"/>
          <p:cNvSpPr/>
          <p:nvPr/>
        </p:nvSpPr>
        <p:spPr>
          <a:xfrm>
            <a:off x="6802770" y="3392058"/>
            <a:ext cx="28164" cy="28164"/>
          </a:xfrm>
          <a:prstGeom prst="ellipse">
            <a:avLst/>
          </a:prstGeom>
          <a:solidFill>
            <a:srgbClr val="FFFFFF"/>
          </a:solidFill>
          <a:ln/>
        </p:spPr>
      </p:sp>
      <p:sp>
        <p:nvSpPr>
          <p:cNvPr id="15" name="Text 12"/>
          <p:cNvSpPr/>
          <p:nvPr/>
        </p:nvSpPr>
        <p:spPr>
          <a:xfrm>
            <a:off x="7022592" y="3246120"/>
            <a:ext cx="4663440" cy="274320"/>
          </a:xfrm>
          <a:prstGeom prst="rect">
            <a:avLst/>
          </a:prstGeom>
          <a:noFill/>
          <a:ln/>
        </p:spPr>
        <p:txBody>
          <a:bodyPr wrap="square" rtlCol="0" anchor="ctr"/>
          <a:lstStyle/>
          <a:p>
            <a:pPr marL="0" indent="0">
              <a:buNone/>
            </a:pPr>
            <a:r>
              <a:rPr lang="en-US" sz="1300" b="1" dirty="0">
                <a:solidFill>
                  <a:srgbClr val="141412"/>
                </a:solidFill>
                <a:latin typeface="Bookman Old Style" pitchFamily="34" charset="0"/>
                <a:ea typeface="Bookman Old Style" pitchFamily="34" charset="-122"/>
                <a:cs typeface="Bookman Old Style" pitchFamily="34" charset="-120"/>
              </a:rPr>
              <a:t>France</a:t>
            </a:r>
            <a:endParaRPr lang="en-US" sz="1300" dirty="0"/>
          </a:p>
        </p:txBody>
      </p:sp>
      <p:sp>
        <p:nvSpPr>
          <p:cNvPr id="16" name="Text 13"/>
          <p:cNvSpPr/>
          <p:nvPr/>
        </p:nvSpPr>
        <p:spPr>
          <a:xfrm>
            <a:off x="7022592" y="3538728"/>
            <a:ext cx="4663440" cy="502920"/>
          </a:xfrm>
          <a:prstGeom prst="rect">
            <a:avLst/>
          </a:prstGeom>
          <a:noFill/>
          <a:ln/>
        </p:spPr>
        <p:txBody>
          <a:bodyPr wrap="square" rtlCol="0" anchor="ctr"/>
          <a:lstStyle/>
          <a:p>
            <a:pPr marL="0" indent="0">
              <a:lnSpc>
                <a:spcPct val="115000"/>
              </a:lnSpc>
              <a:buNone/>
            </a:pPr>
            <a:r>
              <a:rPr lang="en-US" sz="1050" dirty="0">
                <a:solidFill>
                  <a:srgbClr val="5C5C54"/>
                </a:solidFill>
                <a:latin typeface="Calibri" pitchFamily="34" charset="0"/>
                <a:ea typeface="Calibri" pitchFamily="34" charset="-122"/>
                <a:cs typeface="Calibri" pitchFamily="34" charset="-120"/>
              </a:rPr>
              <a:t>No signal — traces to one wholesale transaction (Customer 14277, Sep 2010).</a:t>
            </a:r>
            <a:endParaRPr lang="en-US" sz="1050" dirty="0"/>
          </a:p>
        </p:txBody>
      </p:sp>
      <p:sp>
        <p:nvSpPr>
          <p:cNvPr id="17" name="Shape 14"/>
          <p:cNvSpPr/>
          <p:nvPr/>
        </p:nvSpPr>
        <p:spPr>
          <a:xfrm>
            <a:off x="6766560" y="4133088"/>
            <a:ext cx="4937760" cy="0"/>
          </a:xfrm>
          <a:prstGeom prst="line">
            <a:avLst/>
          </a:prstGeom>
          <a:noFill/>
          <a:ln w="6350">
            <a:solidFill>
              <a:srgbClr val="D6D4C8"/>
            </a:solidFill>
            <a:prstDash val="solid"/>
          </a:ln>
        </p:spPr>
      </p:sp>
      <p:sp>
        <p:nvSpPr>
          <p:cNvPr id="18" name="Shape 15"/>
          <p:cNvSpPr/>
          <p:nvPr/>
        </p:nvSpPr>
        <p:spPr>
          <a:xfrm rot="2700000">
            <a:off x="6766560" y="4315968"/>
            <a:ext cx="100584" cy="100584"/>
          </a:xfrm>
          <a:prstGeom prst="rect">
            <a:avLst/>
          </a:prstGeom>
          <a:solidFill>
            <a:srgbClr val="C81E3A"/>
          </a:solidFill>
          <a:ln/>
        </p:spPr>
      </p:sp>
      <p:sp>
        <p:nvSpPr>
          <p:cNvPr id="19" name="Shape 16"/>
          <p:cNvSpPr/>
          <p:nvPr/>
        </p:nvSpPr>
        <p:spPr>
          <a:xfrm>
            <a:off x="6802770" y="4352178"/>
            <a:ext cx="28164" cy="28164"/>
          </a:xfrm>
          <a:prstGeom prst="ellipse">
            <a:avLst/>
          </a:prstGeom>
          <a:solidFill>
            <a:srgbClr val="FFFFFF"/>
          </a:solidFill>
          <a:ln/>
        </p:spPr>
      </p:sp>
      <p:sp>
        <p:nvSpPr>
          <p:cNvPr id="20" name="Text 17"/>
          <p:cNvSpPr/>
          <p:nvPr/>
        </p:nvSpPr>
        <p:spPr>
          <a:xfrm>
            <a:off x="7022592" y="4206240"/>
            <a:ext cx="4663440" cy="274320"/>
          </a:xfrm>
          <a:prstGeom prst="rect">
            <a:avLst/>
          </a:prstGeom>
          <a:noFill/>
          <a:ln/>
        </p:spPr>
        <p:txBody>
          <a:bodyPr wrap="square" rtlCol="0" anchor="ctr"/>
          <a:lstStyle/>
          <a:p>
            <a:pPr marL="0" indent="0">
              <a:buNone/>
            </a:pPr>
            <a:r>
              <a:rPr lang="en-US" sz="1300" b="1" dirty="0">
                <a:solidFill>
                  <a:srgbClr val="C81E3A"/>
                </a:solidFill>
                <a:latin typeface="Bookman Old Style" pitchFamily="34" charset="0"/>
                <a:ea typeface="Bookman Old Style" pitchFamily="34" charset="-122"/>
                <a:cs typeface="Bookman Old Style" pitchFamily="34" charset="-120"/>
              </a:rPr>
              <a:t>EIRE</a:t>
            </a:r>
            <a:endParaRPr lang="en-US" sz="1300" dirty="0"/>
          </a:p>
        </p:txBody>
      </p:sp>
      <p:sp>
        <p:nvSpPr>
          <p:cNvPr id="21" name="Text 18"/>
          <p:cNvSpPr/>
          <p:nvPr/>
        </p:nvSpPr>
        <p:spPr>
          <a:xfrm>
            <a:off x="7022592" y="4498848"/>
            <a:ext cx="4663440" cy="502920"/>
          </a:xfrm>
          <a:prstGeom prst="rect">
            <a:avLst/>
          </a:prstGeom>
          <a:noFill/>
          <a:ln/>
        </p:spPr>
        <p:txBody>
          <a:bodyPr wrap="square" rtlCol="0" anchor="ctr"/>
          <a:lstStyle/>
          <a:p>
            <a:pPr marL="0" indent="0">
              <a:lnSpc>
                <a:spcPct val="115000"/>
              </a:lnSpc>
              <a:buNone/>
            </a:pPr>
            <a:r>
              <a:rPr lang="en-US" sz="1050" dirty="0">
                <a:solidFill>
                  <a:srgbClr val="5C5C54"/>
                </a:solidFill>
                <a:latin typeface="Calibri" pitchFamily="34" charset="0"/>
                <a:ea typeface="Calibri" pitchFamily="34" charset="-122"/>
                <a:cs typeface="Calibri" pitchFamily="34" charset="-120"/>
              </a:rPr>
              <a:t>Genuine signal — Regency homeware/tea line keeps recurring over time.</a:t>
            </a:r>
            <a:endParaRPr lang="en-US" sz="1050" dirty="0"/>
          </a:p>
        </p:txBody>
      </p:sp>
      <p:sp>
        <p:nvSpPr>
          <p:cNvPr id="22" name="Shape 19"/>
          <p:cNvSpPr/>
          <p:nvPr/>
        </p:nvSpPr>
        <p:spPr>
          <a:xfrm>
            <a:off x="6766560" y="5093208"/>
            <a:ext cx="4937760" cy="0"/>
          </a:xfrm>
          <a:prstGeom prst="line">
            <a:avLst/>
          </a:prstGeom>
          <a:noFill/>
          <a:ln w="6350">
            <a:solidFill>
              <a:srgbClr val="D6D4C8"/>
            </a:solidFill>
            <a:prstDash val="solid"/>
          </a:ln>
        </p:spPr>
      </p:sp>
      <p:sp>
        <p:nvSpPr>
          <p:cNvPr id="23" name="Shape 20"/>
          <p:cNvSpPr/>
          <p:nvPr/>
        </p:nvSpPr>
        <p:spPr>
          <a:xfrm rot="2700000">
            <a:off x="6766560" y="5276088"/>
            <a:ext cx="100584" cy="100584"/>
          </a:xfrm>
          <a:prstGeom prst="rect">
            <a:avLst/>
          </a:prstGeom>
          <a:solidFill>
            <a:srgbClr val="C81E3A"/>
          </a:solidFill>
          <a:ln/>
        </p:spPr>
      </p:sp>
      <p:sp>
        <p:nvSpPr>
          <p:cNvPr id="24" name="Shape 21"/>
          <p:cNvSpPr/>
          <p:nvPr/>
        </p:nvSpPr>
        <p:spPr>
          <a:xfrm>
            <a:off x="6802770" y="5312298"/>
            <a:ext cx="28164" cy="28164"/>
          </a:xfrm>
          <a:prstGeom prst="ellipse">
            <a:avLst/>
          </a:prstGeom>
          <a:solidFill>
            <a:srgbClr val="FFFFFF"/>
          </a:solidFill>
          <a:ln/>
        </p:spPr>
      </p:sp>
      <p:sp>
        <p:nvSpPr>
          <p:cNvPr id="25" name="Text 22"/>
          <p:cNvSpPr/>
          <p:nvPr/>
        </p:nvSpPr>
        <p:spPr>
          <a:xfrm>
            <a:off x="7022592" y="5166360"/>
            <a:ext cx="4663440" cy="274320"/>
          </a:xfrm>
          <a:prstGeom prst="rect">
            <a:avLst/>
          </a:prstGeom>
          <a:noFill/>
          <a:ln/>
        </p:spPr>
        <p:txBody>
          <a:bodyPr wrap="square" rtlCol="0" anchor="ctr"/>
          <a:lstStyle/>
          <a:p>
            <a:pPr marL="0" indent="0">
              <a:buNone/>
            </a:pPr>
            <a:r>
              <a:rPr lang="en-US" sz="1300" b="1" dirty="0">
                <a:solidFill>
                  <a:srgbClr val="C81E3A"/>
                </a:solidFill>
                <a:latin typeface="Bookman Old Style" pitchFamily="34" charset="0"/>
                <a:ea typeface="Bookman Old Style" pitchFamily="34" charset="-122"/>
                <a:cs typeface="Bookman Old Style" pitchFamily="34" charset="-120"/>
              </a:rPr>
              <a:t>Spain</a:t>
            </a:r>
            <a:endParaRPr lang="en-US" sz="1300" dirty="0"/>
          </a:p>
        </p:txBody>
      </p:sp>
      <p:sp>
        <p:nvSpPr>
          <p:cNvPr id="26" name="Text 23"/>
          <p:cNvSpPr/>
          <p:nvPr/>
        </p:nvSpPr>
        <p:spPr>
          <a:xfrm>
            <a:off x="7022592" y="5458968"/>
            <a:ext cx="4663440" cy="502920"/>
          </a:xfrm>
          <a:prstGeom prst="rect">
            <a:avLst/>
          </a:prstGeom>
          <a:noFill/>
          <a:ln/>
        </p:spPr>
        <p:txBody>
          <a:bodyPr wrap="square" rtlCol="0" anchor="ctr"/>
          <a:lstStyle/>
          <a:p>
            <a:pPr marL="0" indent="0">
              <a:lnSpc>
                <a:spcPct val="115000"/>
              </a:lnSpc>
              <a:buNone/>
            </a:pPr>
            <a:r>
              <a:rPr lang="en-US" sz="1050" dirty="0">
                <a:solidFill>
                  <a:srgbClr val="5C5C54"/>
                </a:solidFill>
                <a:latin typeface="Calibri" pitchFamily="34" charset="0"/>
                <a:ea typeface="Calibri" pitchFamily="34" charset="-122"/>
                <a:cs typeface="Calibri" pitchFamily="34" charset="-120"/>
              </a:rPr>
              <a:t>Genuine signal — Customer 12454 repeatedly cancels the same home-décor SKUs.</a:t>
            </a:r>
            <a:endParaRPr lang="en-US" sz="1050" dirty="0"/>
          </a:p>
        </p:txBody>
      </p:sp>
      <p:sp>
        <p:nvSpPr>
          <p:cNvPr id="27" name="Shape 24"/>
          <p:cNvSpPr/>
          <p:nvPr/>
        </p:nvSpPr>
        <p:spPr>
          <a:xfrm>
            <a:off x="457200" y="6355080"/>
            <a:ext cx="11277295" cy="0"/>
          </a:xfrm>
          <a:prstGeom prst="line">
            <a:avLst/>
          </a:prstGeom>
          <a:noFill/>
          <a:ln w="9525">
            <a:solidFill>
              <a:srgbClr val="D6D4C8"/>
            </a:solidFill>
            <a:prstDash val="solid"/>
          </a:ln>
        </p:spPr>
      </p:sp>
      <p:sp>
        <p:nvSpPr>
          <p:cNvPr id="28" name="Text 25"/>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29" name="Text 26"/>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11 / 14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05  </a:t>
            </a:r>
            <a:r>
              <a:rPr lang="en-US" sz="1250" kern="0" spc="100" dirty="0">
                <a:solidFill>
                  <a:srgbClr val="5C5C54"/>
                </a:solidFill>
                <a:latin typeface="Courier New" pitchFamily="34" charset="0"/>
                <a:ea typeface="Courier New" pitchFamily="34" charset="-122"/>
                <a:cs typeface="Courier New" pitchFamily="34" charset="-120"/>
              </a:rPr>
              <a:t>— BUSINESS RECOMMENDATIONS</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700" b="1" dirty="0">
                <a:solidFill>
                  <a:srgbClr val="141412"/>
                </a:solidFill>
                <a:latin typeface="Bookman Old Style" pitchFamily="34" charset="0"/>
                <a:ea typeface="Bookman Old Style" pitchFamily="34" charset="-122"/>
                <a:cs typeface="Bookman Old Style" pitchFamily="34" charset="-120"/>
              </a:rPr>
              <a:t>Three Responses, Not One Policy</a:t>
            </a:r>
            <a:endParaRPr lang="en-US" sz="2700" dirty="0"/>
          </a:p>
        </p:txBody>
      </p:sp>
      <p:sp>
        <p:nvSpPr>
          <p:cNvPr id="4" name="Text 2"/>
          <p:cNvSpPr/>
          <p:nvPr/>
        </p:nvSpPr>
        <p:spPr>
          <a:xfrm>
            <a:off x="502920" y="1463040"/>
            <a:ext cx="11201400" cy="457200"/>
          </a:xfrm>
          <a:prstGeom prst="rect">
            <a:avLst/>
          </a:prstGeom>
          <a:noFill/>
          <a:ln/>
        </p:spPr>
        <p:txBody>
          <a:bodyPr wrap="square" rtlCol="0" anchor="ctr"/>
          <a:lstStyle/>
          <a:p>
            <a:pPr marL="0" indent="0">
              <a:lnSpc>
                <a:spcPct val="120000"/>
              </a:lnSpc>
              <a:buNone/>
            </a:pPr>
            <a:r>
              <a:rPr lang="en-US" sz="1000" b="1" dirty="0">
                <a:solidFill>
                  <a:srgbClr val="9C7A4F"/>
                </a:solidFill>
                <a:latin typeface="Courier New" pitchFamily="34" charset="0"/>
                <a:ea typeface="Courier New" pitchFamily="34" charset="-122"/>
                <a:cs typeface="Courier New" pitchFamily="34" charset="-120"/>
              </a:rPr>
              <a:t>SCOPE  </a:t>
            </a:r>
            <a:r>
              <a:rPr lang="en-US" sz="1150" dirty="0">
                <a:solidFill>
                  <a:srgbClr val="5C5C54"/>
                </a:solidFill>
                <a:latin typeface="Calibri" pitchFamily="34" charset="0"/>
                <a:ea typeface="Calibri" pitchFamily="34" charset="-122"/>
                <a:cs typeface="Calibri" pitchFamily="34" charset="-120"/>
              </a:rPr>
              <a:t>Focus on the top six countries — 95% of total loss. The UK is both the priority (85% of £ exposure) and the most complex market (190 accounts, no dominant one).</a:t>
            </a:r>
            <a:endParaRPr lang="en-US" sz="1000" dirty="0"/>
          </a:p>
        </p:txBody>
      </p:sp>
      <p:sp>
        <p:nvSpPr>
          <p:cNvPr id="5" name="Shape 3"/>
          <p:cNvSpPr/>
          <p:nvPr/>
        </p:nvSpPr>
        <p:spPr>
          <a:xfrm>
            <a:off x="502920" y="1965960"/>
            <a:ext cx="11201400" cy="0"/>
          </a:xfrm>
          <a:prstGeom prst="line">
            <a:avLst/>
          </a:prstGeom>
          <a:noFill/>
          <a:ln w="9525">
            <a:solidFill>
              <a:srgbClr val="D6D4C8"/>
            </a:solidFill>
            <a:prstDash val="solid"/>
          </a:ln>
        </p:spPr>
      </p:sp>
      <p:sp>
        <p:nvSpPr>
          <p:cNvPr id="6" name="Text 4"/>
          <p:cNvSpPr/>
          <p:nvPr/>
        </p:nvSpPr>
        <p:spPr>
          <a:xfrm>
            <a:off x="502920" y="2121408"/>
            <a:ext cx="3611880" cy="365760"/>
          </a:xfrm>
          <a:prstGeom prst="rect">
            <a:avLst/>
          </a:prstGeom>
          <a:noFill/>
          <a:ln/>
        </p:spPr>
        <p:txBody>
          <a:bodyPr wrap="square" rtlCol="0" anchor="ctr"/>
          <a:lstStyle/>
          <a:p>
            <a:pPr marL="0" indent="0">
              <a:buNone/>
            </a:pPr>
            <a:r>
              <a:rPr lang="en-US" sz="1200" b="1" dirty="0">
                <a:solidFill>
                  <a:srgbClr val="9C7A4F"/>
                </a:solidFill>
                <a:latin typeface="Courier New" pitchFamily="34" charset="0"/>
                <a:ea typeface="Courier New" pitchFamily="34" charset="-122"/>
                <a:cs typeface="Courier New" pitchFamily="34" charset="-120"/>
              </a:rPr>
              <a:t>01  </a:t>
            </a:r>
            <a:r>
              <a:rPr lang="en-US" sz="1800" b="1" dirty="0">
                <a:solidFill>
                  <a:srgbClr val="141412"/>
                </a:solidFill>
                <a:latin typeface="Bookman Old Style" pitchFamily="34" charset="0"/>
                <a:ea typeface="Bookman Old Style" pitchFamily="34" charset="-122"/>
                <a:cs typeface="Bookman Old Style" pitchFamily="34" charset="-120"/>
              </a:rPr>
              <a:t>Control</a:t>
            </a:r>
            <a:endParaRPr lang="en-US" sz="1200" dirty="0"/>
          </a:p>
        </p:txBody>
      </p:sp>
      <p:sp>
        <p:nvSpPr>
          <p:cNvPr id="7" name="Text 5"/>
          <p:cNvSpPr/>
          <p:nvPr/>
        </p:nvSpPr>
        <p:spPr>
          <a:xfrm>
            <a:off x="502920" y="2487168"/>
            <a:ext cx="3611880" cy="347472"/>
          </a:xfrm>
          <a:prstGeom prst="rect">
            <a:avLst/>
          </a:prstGeom>
          <a:noFill/>
          <a:ln/>
        </p:spPr>
        <p:txBody>
          <a:bodyPr wrap="square" rtlCol="0" anchor="ctr"/>
          <a:lstStyle/>
          <a:p>
            <a:pPr marL="0" indent="0">
              <a:buNone/>
            </a:pPr>
            <a:r>
              <a:rPr lang="en-US" sz="1000" i="1" dirty="0">
                <a:solidFill>
                  <a:srgbClr val="5C5C54"/>
                </a:solidFill>
                <a:latin typeface="Calibri" pitchFamily="34" charset="0"/>
                <a:ea typeface="Calibri" pitchFamily="34" charset="-122"/>
                <a:cs typeface="Calibri" pitchFamily="34" charset="-120"/>
              </a:rPr>
              <a:t>Add friction to one-off order risk</a:t>
            </a:r>
            <a:endParaRPr lang="en-US" sz="1000" dirty="0"/>
          </a:p>
        </p:txBody>
      </p:sp>
      <p:sp>
        <p:nvSpPr>
          <p:cNvPr id="8" name="Shape 6"/>
          <p:cNvSpPr/>
          <p:nvPr/>
        </p:nvSpPr>
        <p:spPr>
          <a:xfrm rot="2700000">
            <a:off x="502920" y="3017520"/>
            <a:ext cx="82296" cy="82296"/>
          </a:xfrm>
          <a:prstGeom prst="rect">
            <a:avLst/>
          </a:prstGeom>
          <a:solidFill>
            <a:srgbClr val="9C7A4F"/>
          </a:solidFill>
          <a:ln/>
        </p:spPr>
      </p:sp>
      <p:sp>
        <p:nvSpPr>
          <p:cNvPr id="9" name="Shape 7"/>
          <p:cNvSpPr/>
          <p:nvPr/>
        </p:nvSpPr>
        <p:spPr>
          <a:xfrm>
            <a:off x="532547" y="3047147"/>
            <a:ext cx="23043" cy="23043"/>
          </a:xfrm>
          <a:prstGeom prst="ellipse">
            <a:avLst/>
          </a:prstGeom>
          <a:solidFill>
            <a:srgbClr val="FFFFFF"/>
          </a:solidFill>
          <a:ln/>
        </p:spPr>
      </p:sp>
      <p:sp>
        <p:nvSpPr>
          <p:cNvPr id="10" name="Text 8"/>
          <p:cNvSpPr/>
          <p:nvPr/>
        </p:nvSpPr>
        <p:spPr>
          <a:xfrm>
            <a:off x="704088" y="2926080"/>
            <a:ext cx="3410712" cy="694944"/>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EIRE / Norway / France / Spain Pareto accounts: order-confirmation or deposit requirements for large B2B orders</a:t>
            </a:r>
            <a:endParaRPr lang="en-US" sz="950" dirty="0"/>
          </a:p>
        </p:txBody>
      </p:sp>
      <p:sp>
        <p:nvSpPr>
          <p:cNvPr id="11" name="Shape 9"/>
          <p:cNvSpPr/>
          <p:nvPr/>
        </p:nvSpPr>
        <p:spPr>
          <a:xfrm rot="2700000">
            <a:off x="502920" y="3730752"/>
            <a:ext cx="82296" cy="82296"/>
          </a:xfrm>
          <a:prstGeom prst="rect">
            <a:avLst/>
          </a:prstGeom>
          <a:solidFill>
            <a:srgbClr val="9C7A4F"/>
          </a:solidFill>
          <a:ln/>
        </p:spPr>
      </p:sp>
      <p:sp>
        <p:nvSpPr>
          <p:cNvPr id="12" name="Shape 10"/>
          <p:cNvSpPr/>
          <p:nvPr/>
        </p:nvSpPr>
        <p:spPr>
          <a:xfrm>
            <a:off x="532547" y="3760379"/>
            <a:ext cx="23043" cy="23043"/>
          </a:xfrm>
          <a:prstGeom prst="ellipse">
            <a:avLst/>
          </a:prstGeom>
          <a:solidFill>
            <a:srgbClr val="FFFFFF"/>
          </a:solidFill>
          <a:ln/>
        </p:spPr>
      </p:sp>
      <p:sp>
        <p:nvSpPr>
          <p:cNvPr id="13" name="Text 11"/>
          <p:cNvSpPr/>
          <p:nvPr/>
        </p:nvSpPr>
        <p:spPr>
          <a:xfrm>
            <a:off x="704088" y="3639312"/>
            <a:ext cx="3410712" cy="941832"/>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UK top accounts: minimum order thresholds + staged payment terms for large one-off orders — protects future exposure without touching loyal buyers</a:t>
            </a:r>
            <a:endParaRPr lang="en-US" sz="950" dirty="0"/>
          </a:p>
        </p:txBody>
      </p:sp>
      <p:sp>
        <p:nvSpPr>
          <p:cNvPr id="14" name="Shape 12"/>
          <p:cNvSpPr/>
          <p:nvPr/>
        </p:nvSpPr>
        <p:spPr>
          <a:xfrm>
            <a:off x="4206240" y="2103120"/>
            <a:ext cx="0" cy="3108960"/>
          </a:xfrm>
          <a:prstGeom prst="line">
            <a:avLst/>
          </a:prstGeom>
          <a:noFill/>
          <a:ln w="9525">
            <a:solidFill>
              <a:srgbClr val="D6D4C8"/>
            </a:solidFill>
            <a:prstDash val="solid"/>
          </a:ln>
        </p:spPr>
      </p:sp>
      <p:sp>
        <p:nvSpPr>
          <p:cNvPr id="15" name="Text 13"/>
          <p:cNvSpPr/>
          <p:nvPr/>
        </p:nvSpPr>
        <p:spPr>
          <a:xfrm>
            <a:off x="4297680" y="2121408"/>
            <a:ext cx="361188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02  </a:t>
            </a:r>
            <a:r>
              <a:rPr lang="en-US" sz="1800" b="1" dirty="0">
                <a:solidFill>
                  <a:srgbClr val="141412"/>
                </a:solidFill>
                <a:latin typeface="Bookman Old Style" pitchFamily="34" charset="0"/>
                <a:ea typeface="Bookman Old Style" pitchFamily="34" charset="-122"/>
                <a:cs typeface="Bookman Old Style" pitchFamily="34" charset="-120"/>
              </a:rPr>
              <a:t>Investigate</a:t>
            </a:r>
            <a:endParaRPr lang="en-US" sz="1200" dirty="0"/>
          </a:p>
        </p:txBody>
      </p:sp>
      <p:sp>
        <p:nvSpPr>
          <p:cNvPr id="16" name="Text 14"/>
          <p:cNvSpPr/>
          <p:nvPr/>
        </p:nvSpPr>
        <p:spPr>
          <a:xfrm>
            <a:off x="4297680" y="2487168"/>
            <a:ext cx="3611880" cy="347472"/>
          </a:xfrm>
          <a:prstGeom prst="rect">
            <a:avLst/>
          </a:prstGeom>
          <a:noFill/>
          <a:ln/>
        </p:spPr>
        <p:txBody>
          <a:bodyPr wrap="square" rtlCol="0" anchor="ctr"/>
          <a:lstStyle/>
          <a:p>
            <a:pPr marL="0" indent="0">
              <a:buNone/>
            </a:pPr>
            <a:r>
              <a:rPr lang="en-US" sz="1000" i="1" dirty="0">
                <a:solidFill>
                  <a:srgbClr val="5C5C54"/>
                </a:solidFill>
                <a:latin typeface="Calibri" pitchFamily="34" charset="0"/>
                <a:ea typeface="Calibri" pitchFamily="34" charset="-122"/>
                <a:cs typeface="Calibri" pitchFamily="34" charset="-120"/>
              </a:rPr>
              <a:t>Look for a product / experience problem</a:t>
            </a:r>
            <a:endParaRPr lang="en-US" sz="1000" dirty="0"/>
          </a:p>
        </p:txBody>
      </p:sp>
      <p:sp>
        <p:nvSpPr>
          <p:cNvPr id="17" name="Shape 15"/>
          <p:cNvSpPr/>
          <p:nvPr/>
        </p:nvSpPr>
        <p:spPr>
          <a:xfrm rot="2700000">
            <a:off x="4297680" y="3017520"/>
            <a:ext cx="82296" cy="82296"/>
          </a:xfrm>
          <a:prstGeom prst="rect">
            <a:avLst/>
          </a:prstGeom>
          <a:solidFill>
            <a:srgbClr val="C81E3A"/>
          </a:solidFill>
          <a:ln/>
        </p:spPr>
      </p:sp>
      <p:sp>
        <p:nvSpPr>
          <p:cNvPr id="18" name="Shape 16"/>
          <p:cNvSpPr/>
          <p:nvPr/>
        </p:nvSpPr>
        <p:spPr>
          <a:xfrm>
            <a:off x="4327307" y="3047147"/>
            <a:ext cx="23043" cy="23043"/>
          </a:xfrm>
          <a:prstGeom prst="ellipse">
            <a:avLst/>
          </a:prstGeom>
          <a:solidFill>
            <a:srgbClr val="FFFFFF"/>
          </a:solidFill>
          <a:ln/>
        </p:spPr>
      </p:sp>
      <p:sp>
        <p:nvSpPr>
          <p:cNvPr id="19" name="Text 17"/>
          <p:cNvSpPr/>
          <p:nvPr/>
        </p:nvSpPr>
        <p:spPr>
          <a:xfrm>
            <a:off x="4498848" y="2926080"/>
            <a:ext cx="3410712" cy="694944"/>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Germany Profile 1 (one-time disengaged): review product descriptions / category fit for first-time German buyers</a:t>
            </a:r>
            <a:endParaRPr lang="en-US" sz="950" dirty="0"/>
          </a:p>
        </p:txBody>
      </p:sp>
      <p:sp>
        <p:nvSpPr>
          <p:cNvPr id="20" name="Shape 18"/>
          <p:cNvSpPr/>
          <p:nvPr/>
        </p:nvSpPr>
        <p:spPr>
          <a:xfrm rot="2700000">
            <a:off x="4297680" y="3730752"/>
            <a:ext cx="82296" cy="82296"/>
          </a:xfrm>
          <a:prstGeom prst="rect">
            <a:avLst/>
          </a:prstGeom>
          <a:solidFill>
            <a:srgbClr val="C81E3A"/>
          </a:solidFill>
          <a:ln/>
        </p:spPr>
      </p:sp>
      <p:sp>
        <p:nvSpPr>
          <p:cNvPr id="21" name="Shape 19"/>
          <p:cNvSpPr/>
          <p:nvPr/>
        </p:nvSpPr>
        <p:spPr>
          <a:xfrm>
            <a:off x="4327307" y="3760379"/>
            <a:ext cx="23043" cy="23043"/>
          </a:xfrm>
          <a:prstGeom prst="ellipse">
            <a:avLst/>
          </a:prstGeom>
          <a:solidFill>
            <a:srgbClr val="FFFFFF"/>
          </a:solidFill>
          <a:ln/>
        </p:spPr>
      </p:sp>
      <p:sp>
        <p:nvSpPr>
          <p:cNvPr id="22" name="Text 20"/>
          <p:cNvSpPr/>
          <p:nvPr/>
        </p:nvSpPr>
        <p:spPr>
          <a:xfrm>
            <a:off x="4498848" y="3639312"/>
            <a:ext cx="3410712" cy="694944"/>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EIRE Regency line: months of recurring cancellation across a coherent product family — review quality &amp; fulfillment</a:t>
            </a:r>
            <a:endParaRPr lang="en-US" sz="950" dirty="0"/>
          </a:p>
        </p:txBody>
      </p:sp>
      <p:sp>
        <p:nvSpPr>
          <p:cNvPr id="23" name="Shape 21"/>
          <p:cNvSpPr/>
          <p:nvPr/>
        </p:nvSpPr>
        <p:spPr>
          <a:xfrm rot="2700000">
            <a:off x="4297680" y="4443984"/>
            <a:ext cx="82296" cy="82296"/>
          </a:xfrm>
          <a:prstGeom prst="rect">
            <a:avLst/>
          </a:prstGeom>
          <a:solidFill>
            <a:srgbClr val="C81E3A"/>
          </a:solidFill>
          <a:ln/>
        </p:spPr>
      </p:sp>
      <p:sp>
        <p:nvSpPr>
          <p:cNvPr id="24" name="Shape 22"/>
          <p:cNvSpPr/>
          <p:nvPr/>
        </p:nvSpPr>
        <p:spPr>
          <a:xfrm>
            <a:off x="4327307" y="4473611"/>
            <a:ext cx="23043" cy="23043"/>
          </a:xfrm>
          <a:prstGeom prst="ellipse">
            <a:avLst/>
          </a:prstGeom>
          <a:solidFill>
            <a:srgbClr val="FFFFFF"/>
          </a:solidFill>
          <a:ln/>
        </p:spPr>
      </p:sp>
      <p:sp>
        <p:nvSpPr>
          <p:cNvPr id="25" name="Text 23"/>
          <p:cNvSpPr/>
          <p:nvPr/>
        </p:nvSpPr>
        <p:spPr>
          <a:xfrm>
            <a:off x="4498848" y="4352544"/>
            <a:ext cx="3410712" cy="694944"/>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Spain home décor: Customer 12454's repeat cancellations — investigate before scaling the line</a:t>
            </a:r>
            <a:endParaRPr lang="en-US" sz="950" dirty="0"/>
          </a:p>
        </p:txBody>
      </p:sp>
      <p:sp>
        <p:nvSpPr>
          <p:cNvPr id="26" name="Shape 24"/>
          <p:cNvSpPr/>
          <p:nvPr/>
        </p:nvSpPr>
        <p:spPr>
          <a:xfrm>
            <a:off x="8001000" y="2103120"/>
            <a:ext cx="0" cy="3108960"/>
          </a:xfrm>
          <a:prstGeom prst="line">
            <a:avLst/>
          </a:prstGeom>
          <a:noFill/>
          <a:ln w="9525">
            <a:solidFill>
              <a:srgbClr val="D6D4C8"/>
            </a:solidFill>
            <a:prstDash val="solid"/>
          </a:ln>
        </p:spPr>
      </p:sp>
      <p:sp>
        <p:nvSpPr>
          <p:cNvPr id="27" name="Text 25"/>
          <p:cNvSpPr/>
          <p:nvPr/>
        </p:nvSpPr>
        <p:spPr>
          <a:xfrm>
            <a:off x="8092440" y="2121408"/>
            <a:ext cx="3611880" cy="365760"/>
          </a:xfrm>
          <a:prstGeom prst="rect">
            <a:avLst/>
          </a:prstGeom>
          <a:noFill/>
          <a:ln/>
        </p:spPr>
        <p:txBody>
          <a:bodyPr wrap="square" rtlCol="0" anchor="ctr"/>
          <a:lstStyle/>
          <a:p>
            <a:pPr marL="0" indent="0">
              <a:buNone/>
            </a:pPr>
            <a:r>
              <a:rPr lang="en-US" sz="1200" b="1" dirty="0">
                <a:solidFill>
                  <a:srgbClr val="141412"/>
                </a:solidFill>
                <a:latin typeface="Courier New" pitchFamily="34" charset="0"/>
                <a:ea typeface="Courier New" pitchFamily="34" charset="-122"/>
                <a:cs typeface="Courier New" pitchFamily="34" charset="-120"/>
              </a:rPr>
              <a:t>03  </a:t>
            </a:r>
            <a:r>
              <a:rPr lang="en-US" sz="1800" b="1" dirty="0">
                <a:solidFill>
                  <a:srgbClr val="141412"/>
                </a:solidFill>
                <a:latin typeface="Bookman Old Style" pitchFamily="34" charset="0"/>
                <a:ea typeface="Bookman Old Style" pitchFamily="34" charset="-122"/>
                <a:cs typeface="Bookman Old Style" pitchFamily="34" charset="-120"/>
              </a:rPr>
              <a:t>Retain</a:t>
            </a:r>
            <a:endParaRPr lang="en-US" sz="1200" dirty="0"/>
          </a:p>
        </p:txBody>
      </p:sp>
      <p:sp>
        <p:nvSpPr>
          <p:cNvPr id="28" name="Text 26"/>
          <p:cNvSpPr/>
          <p:nvPr/>
        </p:nvSpPr>
        <p:spPr>
          <a:xfrm>
            <a:off x="8092440" y="2487168"/>
            <a:ext cx="3611880" cy="347472"/>
          </a:xfrm>
          <a:prstGeom prst="rect">
            <a:avLst/>
          </a:prstGeom>
          <a:noFill/>
          <a:ln/>
        </p:spPr>
        <p:txBody>
          <a:bodyPr wrap="square" rtlCol="0" anchor="ctr"/>
          <a:lstStyle/>
          <a:p>
            <a:pPr marL="0" indent="0">
              <a:buNone/>
            </a:pPr>
            <a:r>
              <a:rPr lang="en-US" sz="1000" i="1" dirty="0">
                <a:solidFill>
                  <a:srgbClr val="5C5C54"/>
                </a:solidFill>
                <a:latin typeface="Calibri" pitchFamily="34" charset="0"/>
                <a:ea typeface="Calibri" pitchFamily="34" charset="-122"/>
                <a:cs typeface="Calibri" pitchFamily="34" charset="-120"/>
              </a:rPr>
              <a:t>Engage directly — this account is worth keeping</a:t>
            </a:r>
            <a:endParaRPr lang="en-US" sz="1000" dirty="0"/>
          </a:p>
        </p:txBody>
      </p:sp>
      <p:sp>
        <p:nvSpPr>
          <p:cNvPr id="29" name="Shape 27"/>
          <p:cNvSpPr/>
          <p:nvPr/>
        </p:nvSpPr>
        <p:spPr>
          <a:xfrm rot="2700000">
            <a:off x="8092440" y="3017520"/>
            <a:ext cx="82296" cy="82296"/>
          </a:xfrm>
          <a:prstGeom prst="rect">
            <a:avLst/>
          </a:prstGeom>
          <a:solidFill>
            <a:srgbClr val="141412"/>
          </a:solidFill>
          <a:ln/>
        </p:spPr>
      </p:sp>
      <p:sp>
        <p:nvSpPr>
          <p:cNvPr id="30" name="Shape 28"/>
          <p:cNvSpPr/>
          <p:nvPr/>
        </p:nvSpPr>
        <p:spPr>
          <a:xfrm>
            <a:off x="8122067" y="3047147"/>
            <a:ext cx="23043" cy="23043"/>
          </a:xfrm>
          <a:prstGeom prst="ellipse">
            <a:avLst/>
          </a:prstGeom>
          <a:solidFill>
            <a:srgbClr val="FFFFFF"/>
          </a:solidFill>
          <a:ln/>
        </p:spPr>
      </p:sp>
      <p:sp>
        <p:nvSpPr>
          <p:cNvPr id="31" name="Text 29"/>
          <p:cNvSpPr/>
          <p:nvPr/>
        </p:nvSpPr>
        <p:spPr>
          <a:xfrm>
            <a:off x="8293608" y="2926080"/>
            <a:ext cx="3410712" cy="941832"/>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Germany Profile 2 (high-value chronic cancellers): frequent, high-spending, keeps cancelling — direct outreach to convert into a stable, high-value account rather than losing them to restrictive controls</a:t>
            </a:r>
            <a:endParaRPr lang="en-US" sz="950" dirty="0"/>
          </a:p>
        </p:txBody>
      </p:sp>
      <p:sp>
        <p:nvSpPr>
          <p:cNvPr id="32" name="Shape 30"/>
          <p:cNvSpPr/>
          <p:nvPr/>
        </p:nvSpPr>
        <p:spPr>
          <a:xfrm>
            <a:off x="502920" y="5349240"/>
            <a:ext cx="11201400" cy="0"/>
          </a:xfrm>
          <a:prstGeom prst="line">
            <a:avLst/>
          </a:prstGeom>
          <a:noFill/>
          <a:ln w="9525">
            <a:solidFill>
              <a:srgbClr val="D6D4C8"/>
            </a:solidFill>
            <a:prstDash val="solid"/>
          </a:ln>
        </p:spPr>
      </p:sp>
      <p:sp>
        <p:nvSpPr>
          <p:cNvPr id="33" name="Text 31"/>
          <p:cNvSpPr/>
          <p:nvPr/>
        </p:nvSpPr>
        <p:spPr>
          <a:xfrm>
            <a:off x="502920" y="5486400"/>
            <a:ext cx="11201400" cy="548640"/>
          </a:xfrm>
          <a:prstGeom prst="rect">
            <a:avLst/>
          </a:prstGeom>
          <a:noFill/>
          <a:ln/>
        </p:spPr>
        <p:txBody>
          <a:bodyPr wrap="square" rtlCol="0" anchor="ctr"/>
          <a:lstStyle/>
          <a:p>
            <a:pPr marL="0" indent="0">
              <a:lnSpc>
                <a:spcPct val="120000"/>
              </a:lnSpc>
              <a:buNone/>
            </a:pPr>
            <a:r>
              <a:rPr lang="en-US" sz="1000" b="1" dirty="0">
                <a:solidFill>
                  <a:srgbClr val="C81E3A"/>
                </a:solidFill>
                <a:latin typeface="Courier New" pitchFamily="34" charset="0"/>
                <a:ea typeface="Courier New" pitchFamily="34" charset="-122"/>
                <a:cs typeface="Courier New" pitchFamily="34" charset="-120"/>
              </a:rPr>
              <a:t>THE THROUGHLINE   </a:t>
            </a:r>
            <a:r>
              <a:rPr lang="en-US" sz="1150" dirty="0">
                <a:solidFill>
                  <a:srgbClr val="141412"/>
                </a:solidFill>
                <a:latin typeface="Calibri" pitchFamily="34" charset="0"/>
                <a:ea typeface="Calibri" pitchFamily="34" charset="-122"/>
                <a:cs typeface="Calibri" pitchFamily="34" charset="-120"/>
              </a:rPr>
              <a:t>Don't treat every cancellation the same way. Applying the wrong response — friction, investigation, or retention — to the wrong group either wastes effort or drives away revenue you want to keep.</a:t>
            </a:r>
            <a:endParaRPr lang="en-US" sz="1000" dirty="0"/>
          </a:p>
        </p:txBody>
      </p:sp>
      <p:sp>
        <p:nvSpPr>
          <p:cNvPr id="34" name="Shape 32"/>
          <p:cNvSpPr/>
          <p:nvPr/>
        </p:nvSpPr>
        <p:spPr>
          <a:xfrm>
            <a:off x="457200" y="6355080"/>
            <a:ext cx="11277295" cy="0"/>
          </a:xfrm>
          <a:prstGeom prst="line">
            <a:avLst/>
          </a:prstGeom>
          <a:noFill/>
          <a:ln w="9525">
            <a:solidFill>
              <a:srgbClr val="D6D4C8"/>
            </a:solidFill>
            <a:prstDash val="solid"/>
          </a:ln>
        </p:spPr>
      </p:sp>
      <p:sp>
        <p:nvSpPr>
          <p:cNvPr id="35" name="Text 33"/>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36" name="Text 34"/>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12 / 14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06  </a:t>
            </a:r>
            <a:r>
              <a:rPr lang="en-US" sz="1250" kern="0" spc="100" dirty="0">
                <a:solidFill>
                  <a:srgbClr val="5C5C54"/>
                </a:solidFill>
                <a:latin typeface="Courier New" pitchFamily="34" charset="0"/>
                <a:ea typeface="Courier New" pitchFamily="34" charset="-122"/>
                <a:cs typeface="Courier New" pitchFamily="34" charset="-120"/>
              </a:rPr>
              <a:t>— LIMITATIONS &amp; FUTURE WORK</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700" b="1" dirty="0">
                <a:solidFill>
                  <a:srgbClr val="141412"/>
                </a:solidFill>
                <a:latin typeface="Bookman Old Style" pitchFamily="34" charset="0"/>
                <a:ea typeface="Bookman Old Style" pitchFamily="34" charset="-122"/>
                <a:cs typeface="Bookman Old Style" pitchFamily="34" charset="-120"/>
              </a:rPr>
              <a:t>Honest Constraints, Clear Next Steps</a:t>
            </a:r>
            <a:endParaRPr lang="en-US" sz="2700" dirty="0"/>
          </a:p>
        </p:txBody>
      </p:sp>
      <p:sp>
        <p:nvSpPr>
          <p:cNvPr id="4" name="Text 2"/>
          <p:cNvSpPr/>
          <p:nvPr/>
        </p:nvSpPr>
        <p:spPr>
          <a:xfrm>
            <a:off x="502920" y="1554480"/>
            <a:ext cx="5394960" cy="274320"/>
          </a:xfrm>
          <a:prstGeom prst="rect">
            <a:avLst/>
          </a:prstGeom>
          <a:noFill/>
          <a:ln/>
        </p:spPr>
        <p:txBody>
          <a:bodyPr wrap="square" rtlCol="0" anchor="ctr"/>
          <a:lstStyle/>
          <a:p>
            <a:pPr marL="0" indent="0">
              <a:buNone/>
            </a:pPr>
            <a:r>
              <a:rPr lang="en-US" sz="1200" b="1" kern="0" spc="100" dirty="0">
                <a:solidFill>
                  <a:srgbClr val="9C7A4F"/>
                </a:solidFill>
                <a:latin typeface="Courier New" pitchFamily="34" charset="0"/>
                <a:ea typeface="Courier New" pitchFamily="34" charset="-122"/>
                <a:cs typeface="Courier New" pitchFamily="34" charset="-120"/>
              </a:rPr>
              <a:t>LIMITATIONS</a:t>
            </a:r>
            <a:endParaRPr lang="en-US" sz="1200" dirty="0"/>
          </a:p>
        </p:txBody>
      </p:sp>
      <p:sp>
        <p:nvSpPr>
          <p:cNvPr id="5" name="Text 3"/>
          <p:cNvSpPr/>
          <p:nvPr/>
        </p:nvSpPr>
        <p:spPr>
          <a:xfrm>
            <a:off x="502920" y="2011680"/>
            <a:ext cx="5486400" cy="777240"/>
          </a:xfrm>
          <a:prstGeom prst="rect">
            <a:avLst/>
          </a:prstGeom>
          <a:noFill/>
          <a:ln/>
        </p:spPr>
        <p:txBody>
          <a:bodyPr wrap="square" rtlCol="0" anchor="ctr"/>
          <a:lstStyle/>
          <a:p>
            <a:pPr marL="0" indent="0">
              <a:lnSpc>
                <a:spcPct val="120000"/>
              </a:lnSpc>
              <a:buNone/>
            </a:pPr>
            <a:r>
              <a:rPr lang="en-US" sz="1250" b="1" dirty="0">
                <a:solidFill>
                  <a:srgbClr val="141412"/>
                </a:solidFill>
                <a:latin typeface="Bookman Old Style" pitchFamily="34" charset="0"/>
                <a:ea typeface="Bookman Old Style" pitchFamily="34" charset="-122"/>
                <a:cs typeface="Bookman Old Style" pitchFamily="34" charset="-120"/>
              </a:rPr>
              <a:t>Geographic  </a:t>
            </a:r>
            <a:r>
              <a:rPr lang="en-US" sz="1100" dirty="0">
                <a:solidFill>
                  <a:srgbClr val="5C5C54"/>
                </a:solidFill>
                <a:latin typeface="Calibri" pitchFamily="34" charset="0"/>
                <a:ea typeface="Calibri" pitchFamily="34" charset="-122"/>
                <a:cs typeface="Calibri" pitchFamily="34" charset="-120"/>
              </a:rPr>
              <a:t>Country-level only — no city/postal data to test location or distribution-distance effects</a:t>
            </a:r>
            <a:endParaRPr lang="en-US" sz="1250" dirty="0"/>
          </a:p>
        </p:txBody>
      </p:sp>
      <p:sp>
        <p:nvSpPr>
          <p:cNvPr id="6" name="Shape 4"/>
          <p:cNvSpPr/>
          <p:nvPr/>
        </p:nvSpPr>
        <p:spPr>
          <a:xfrm>
            <a:off x="502920" y="2880360"/>
            <a:ext cx="5394960" cy="0"/>
          </a:xfrm>
          <a:prstGeom prst="line">
            <a:avLst/>
          </a:prstGeom>
          <a:noFill/>
          <a:ln w="6350">
            <a:solidFill>
              <a:srgbClr val="D6D4C8"/>
            </a:solidFill>
            <a:prstDash val="solid"/>
          </a:ln>
        </p:spPr>
      </p:sp>
      <p:sp>
        <p:nvSpPr>
          <p:cNvPr id="7" name="Text 5"/>
          <p:cNvSpPr/>
          <p:nvPr/>
        </p:nvSpPr>
        <p:spPr>
          <a:xfrm>
            <a:off x="502920" y="2971800"/>
            <a:ext cx="5486400" cy="777240"/>
          </a:xfrm>
          <a:prstGeom prst="rect">
            <a:avLst/>
          </a:prstGeom>
          <a:noFill/>
          <a:ln/>
        </p:spPr>
        <p:txBody>
          <a:bodyPr wrap="square" rtlCol="0" anchor="ctr"/>
          <a:lstStyle/>
          <a:p>
            <a:pPr marL="0" indent="0">
              <a:lnSpc>
                <a:spcPct val="120000"/>
              </a:lnSpc>
              <a:buNone/>
            </a:pPr>
            <a:r>
              <a:rPr lang="en-US" sz="1250" b="1" dirty="0">
                <a:solidFill>
                  <a:srgbClr val="141412"/>
                </a:solidFill>
                <a:latin typeface="Bookman Old Style" pitchFamily="34" charset="0"/>
                <a:ea typeface="Bookman Old Style" pitchFamily="34" charset="-122"/>
                <a:cs typeface="Bookman Old Style" pitchFamily="34" charset="-120"/>
              </a:rPr>
              <a:t>Temporal  </a:t>
            </a:r>
            <a:r>
              <a:rPr lang="en-US" sz="1100" dirty="0">
                <a:solidFill>
                  <a:srgbClr val="5C5C54"/>
                </a:solidFill>
                <a:latin typeface="Calibri" pitchFamily="34" charset="0"/>
                <a:ea typeface="Calibri" pitchFamily="34" charset="-122"/>
                <a:cs typeface="Calibri" pitchFamily="34" charset="-120"/>
              </a:rPr>
              <a:t>Only 2 full calendar years / 2 Q4 cycles observed — seasonality is inferred, not statistically confirmed</a:t>
            </a:r>
            <a:endParaRPr lang="en-US" sz="1250" dirty="0"/>
          </a:p>
        </p:txBody>
      </p:sp>
      <p:sp>
        <p:nvSpPr>
          <p:cNvPr id="8" name="Shape 6"/>
          <p:cNvSpPr/>
          <p:nvPr/>
        </p:nvSpPr>
        <p:spPr>
          <a:xfrm>
            <a:off x="502920" y="3840480"/>
            <a:ext cx="5394960" cy="0"/>
          </a:xfrm>
          <a:prstGeom prst="line">
            <a:avLst/>
          </a:prstGeom>
          <a:noFill/>
          <a:ln w="6350">
            <a:solidFill>
              <a:srgbClr val="D6D4C8"/>
            </a:solidFill>
            <a:prstDash val="solid"/>
          </a:ln>
        </p:spPr>
      </p:sp>
      <p:sp>
        <p:nvSpPr>
          <p:cNvPr id="9" name="Text 7"/>
          <p:cNvSpPr/>
          <p:nvPr/>
        </p:nvSpPr>
        <p:spPr>
          <a:xfrm>
            <a:off x="502920" y="3931920"/>
            <a:ext cx="5486400" cy="777240"/>
          </a:xfrm>
          <a:prstGeom prst="rect">
            <a:avLst/>
          </a:prstGeom>
          <a:noFill/>
          <a:ln/>
        </p:spPr>
        <p:txBody>
          <a:bodyPr wrap="square" rtlCol="0" anchor="ctr"/>
          <a:lstStyle/>
          <a:p>
            <a:pPr marL="0" indent="0">
              <a:lnSpc>
                <a:spcPct val="120000"/>
              </a:lnSpc>
              <a:buNone/>
            </a:pPr>
            <a:r>
              <a:rPr lang="en-US" sz="1250" b="1" dirty="0">
                <a:solidFill>
                  <a:srgbClr val="141412"/>
                </a:solidFill>
                <a:latin typeface="Bookman Old Style" pitchFamily="34" charset="0"/>
                <a:ea typeface="Bookman Old Style" pitchFamily="34" charset="-122"/>
                <a:cs typeface="Bookman Old Style" pitchFamily="34" charset="-120"/>
              </a:rPr>
              <a:t>Customer  </a:t>
            </a:r>
            <a:r>
              <a:rPr lang="en-US" sz="1100" dirty="0">
                <a:solidFill>
                  <a:srgbClr val="5C5C54"/>
                </a:solidFill>
                <a:latin typeface="Calibri" pitchFamily="34" charset="0"/>
                <a:ea typeface="Calibri" pitchFamily="34" charset="-122"/>
                <a:cs typeface="Calibri" pitchFamily="34" charset="-120"/>
              </a:rPr>
              <a:t>RFMR scores are per-country quintiles — not comparable across countries in absolute terms</a:t>
            </a:r>
            <a:endParaRPr lang="en-US" sz="1250" dirty="0"/>
          </a:p>
        </p:txBody>
      </p:sp>
      <p:sp>
        <p:nvSpPr>
          <p:cNvPr id="10" name="Shape 8"/>
          <p:cNvSpPr/>
          <p:nvPr/>
        </p:nvSpPr>
        <p:spPr>
          <a:xfrm>
            <a:off x="502920" y="4800600"/>
            <a:ext cx="5394960" cy="0"/>
          </a:xfrm>
          <a:prstGeom prst="line">
            <a:avLst/>
          </a:prstGeom>
          <a:noFill/>
          <a:ln w="6350">
            <a:solidFill>
              <a:srgbClr val="D6D4C8"/>
            </a:solidFill>
            <a:prstDash val="solid"/>
          </a:ln>
        </p:spPr>
      </p:sp>
      <p:sp>
        <p:nvSpPr>
          <p:cNvPr id="11" name="Text 9"/>
          <p:cNvSpPr/>
          <p:nvPr/>
        </p:nvSpPr>
        <p:spPr>
          <a:xfrm>
            <a:off x="502920" y="4892040"/>
            <a:ext cx="5486400" cy="777240"/>
          </a:xfrm>
          <a:prstGeom prst="rect">
            <a:avLst/>
          </a:prstGeom>
          <a:noFill/>
          <a:ln/>
        </p:spPr>
        <p:txBody>
          <a:bodyPr wrap="square" rtlCol="0" anchor="ctr"/>
          <a:lstStyle/>
          <a:p>
            <a:pPr marL="0" indent="0">
              <a:lnSpc>
                <a:spcPct val="120000"/>
              </a:lnSpc>
              <a:buNone/>
            </a:pPr>
            <a:r>
              <a:rPr lang="en-US" sz="1250" b="1" dirty="0">
                <a:solidFill>
                  <a:srgbClr val="141412"/>
                </a:solidFill>
                <a:latin typeface="Bookman Old Style" pitchFamily="34" charset="0"/>
                <a:ea typeface="Bookman Old Style" pitchFamily="34" charset="-122"/>
                <a:cs typeface="Bookman Old Style" pitchFamily="34" charset="-120"/>
              </a:rPr>
              <a:t>Product  </a:t>
            </a:r>
            <a:r>
              <a:rPr lang="en-US" sz="1100" dirty="0">
                <a:solidFill>
                  <a:srgbClr val="5C5C54"/>
                </a:solidFill>
                <a:latin typeface="Calibri" pitchFamily="34" charset="0"/>
                <a:ea typeface="Calibri" pitchFamily="34" charset="-122"/>
                <a:cs typeface="Calibri" pitchFamily="34" charset="-120"/>
              </a:rPr>
              <a:t>StockCode M is ambiguous (accounting vs. real cancellation). </a:t>
            </a:r>
            <a:endParaRPr lang="en-US" sz="1250" dirty="0"/>
          </a:p>
        </p:txBody>
      </p:sp>
      <p:sp>
        <p:nvSpPr>
          <p:cNvPr id="12" name="Shape 10"/>
          <p:cNvSpPr/>
          <p:nvPr/>
        </p:nvSpPr>
        <p:spPr>
          <a:xfrm>
            <a:off x="6172200" y="1554480"/>
            <a:ext cx="0" cy="4709160"/>
          </a:xfrm>
          <a:prstGeom prst="line">
            <a:avLst/>
          </a:prstGeom>
          <a:noFill/>
          <a:ln w="9525">
            <a:solidFill>
              <a:srgbClr val="D6D4C8"/>
            </a:solidFill>
            <a:prstDash val="solid"/>
          </a:ln>
        </p:spPr>
      </p:sp>
      <p:sp>
        <p:nvSpPr>
          <p:cNvPr id="13" name="Text 11"/>
          <p:cNvSpPr/>
          <p:nvPr/>
        </p:nvSpPr>
        <p:spPr>
          <a:xfrm>
            <a:off x="6492240" y="1554480"/>
            <a:ext cx="5212080" cy="274320"/>
          </a:xfrm>
          <a:prstGeom prst="rect">
            <a:avLst/>
          </a:prstGeom>
          <a:noFill/>
          <a:ln/>
        </p:spPr>
        <p:txBody>
          <a:bodyPr wrap="square" rtlCol="0" anchor="ctr"/>
          <a:lstStyle/>
          <a:p>
            <a:pPr marL="0" indent="0">
              <a:buNone/>
            </a:pPr>
            <a:r>
              <a:rPr lang="en-US" sz="1200" b="1" kern="0" spc="100" dirty="0">
                <a:solidFill>
                  <a:srgbClr val="C81E3A"/>
                </a:solidFill>
                <a:latin typeface="Courier New" pitchFamily="34" charset="0"/>
                <a:ea typeface="Courier New" pitchFamily="34" charset="-122"/>
                <a:cs typeface="Courier New" pitchFamily="34" charset="-120"/>
              </a:rPr>
              <a:t>FUTURE WORK</a:t>
            </a:r>
            <a:endParaRPr lang="en-US" sz="1200" dirty="0"/>
          </a:p>
        </p:txBody>
      </p:sp>
      <p:sp>
        <p:nvSpPr>
          <p:cNvPr id="14" name="Shape 12"/>
          <p:cNvSpPr/>
          <p:nvPr/>
        </p:nvSpPr>
        <p:spPr>
          <a:xfrm rot="2700000">
            <a:off x="6492240" y="1975104"/>
            <a:ext cx="91440" cy="91440"/>
          </a:xfrm>
          <a:prstGeom prst="rect">
            <a:avLst/>
          </a:prstGeom>
          <a:solidFill>
            <a:srgbClr val="C81E3A"/>
          </a:solidFill>
          <a:ln/>
        </p:spPr>
      </p:sp>
      <p:sp>
        <p:nvSpPr>
          <p:cNvPr id="15" name="Shape 13"/>
          <p:cNvSpPr/>
          <p:nvPr/>
        </p:nvSpPr>
        <p:spPr>
          <a:xfrm>
            <a:off x="6525158" y="2008022"/>
            <a:ext cx="25603" cy="25603"/>
          </a:xfrm>
          <a:prstGeom prst="ellipse">
            <a:avLst/>
          </a:prstGeom>
          <a:solidFill>
            <a:srgbClr val="FFFFFF"/>
          </a:solidFill>
          <a:ln/>
        </p:spPr>
      </p:sp>
      <p:sp>
        <p:nvSpPr>
          <p:cNvPr id="16" name="Text 14"/>
          <p:cNvSpPr/>
          <p:nvPr/>
        </p:nvSpPr>
        <p:spPr>
          <a:xfrm>
            <a:off x="6720840" y="18745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K-Means clustering on the four RFMR dimensions across all 190 UK and 19 German Pareto accounts, to formally validate the behavioral segments</a:t>
            </a:r>
            <a:endParaRPr lang="en-US" sz="1050" dirty="0"/>
          </a:p>
        </p:txBody>
      </p:sp>
      <p:sp>
        <p:nvSpPr>
          <p:cNvPr id="17" name="Shape 15"/>
          <p:cNvSpPr/>
          <p:nvPr/>
        </p:nvSpPr>
        <p:spPr>
          <a:xfrm rot="2700000">
            <a:off x="6492240" y="2660904"/>
            <a:ext cx="91440" cy="91440"/>
          </a:xfrm>
          <a:prstGeom prst="rect">
            <a:avLst/>
          </a:prstGeom>
          <a:solidFill>
            <a:srgbClr val="C81E3A"/>
          </a:solidFill>
          <a:ln/>
        </p:spPr>
      </p:sp>
      <p:sp>
        <p:nvSpPr>
          <p:cNvPr id="18" name="Shape 16"/>
          <p:cNvSpPr/>
          <p:nvPr/>
        </p:nvSpPr>
        <p:spPr>
          <a:xfrm>
            <a:off x="6525158" y="2693822"/>
            <a:ext cx="25603" cy="25603"/>
          </a:xfrm>
          <a:prstGeom prst="ellipse">
            <a:avLst/>
          </a:prstGeom>
          <a:solidFill>
            <a:srgbClr val="FFFFFF"/>
          </a:solidFill>
          <a:ln/>
        </p:spPr>
      </p:sp>
      <p:sp>
        <p:nvSpPr>
          <p:cNvPr id="19" name="Text 17"/>
          <p:cNvSpPr/>
          <p:nvPr/>
        </p:nvSpPr>
        <p:spPr>
          <a:xfrm>
            <a:off x="6720840" y="25603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Account-by-account review for EIRE, Norway, France, Spain — low account counts make manual review the most effective path</a:t>
            </a:r>
            <a:endParaRPr lang="en-US" sz="1050" dirty="0"/>
          </a:p>
        </p:txBody>
      </p:sp>
      <p:sp>
        <p:nvSpPr>
          <p:cNvPr id="20" name="Shape 18"/>
          <p:cNvSpPr/>
          <p:nvPr/>
        </p:nvSpPr>
        <p:spPr>
          <a:xfrm rot="2700000">
            <a:off x="6492240" y="3346704"/>
            <a:ext cx="91440" cy="91440"/>
          </a:xfrm>
          <a:prstGeom prst="rect">
            <a:avLst/>
          </a:prstGeom>
          <a:solidFill>
            <a:srgbClr val="C81E3A"/>
          </a:solidFill>
          <a:ln/>
        </p:spPr>
      </p:sp>
      <p:sp>
        <p:nvSpPr>
          <p:cNvPr id="21" name="Shape 19"/>
          <p:cNvSpPr/>
          <p:nvPr/>
        </p:nvSpPr>
        <p:spPr>
          <a:xfrm>
            <a:off x="6525158" y="3379622"/>
            <a:ext cx="25603" cy="25603"/>
          </a:xfrm>
          <a:prstGeom prst="ellipse">
            <a:avLst/>
          </a:prstGeom>
          <a:solidFill>
            <a:srgbClr val="FFFFFF"/>
          </a:solidFill>
          <a:ln/>
        </p:spPr>
      </p:sp>
      <p:sp>
        <p:nvSpPr>
          <p:cNvPr id="22" name="Text 20"/>
          <p:cNvSpPr/>
          <p:nvPr/>
        </p:nvSpPr>
        <p:spPr>
          <a:xfrm>
            <a:off x="6720840" y="32461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City/postal-level data to test logistics-distance and regional effects, especially in the UK</a:t>
            </a:r>
            <a:endParaRPr lang="en-US" sz="1050" dirty="0"/>
          </a:p>
        </p:txBody>
      </p:sp>
      <p:sp>
        <p:nvSpPr>
          <p:cNvPr id="23" name="Shape 21"/>
          <p:cNvSpPr/>
          <p:nvPr/>
        </p:nvSpPr>
        <p:spPr>
          <a:xfrm rot="2700000">
            <a:off x="6492240" y="4032504"/>
            <a:ext cx="91440" cy="91440"/>
          </a:xfrm>
          <a:prstGeom prst="rect">
            <a:avLst/>
          </a:prstGeom>
          <a:solidFill>
            <a:srgbClr val="C81E3A"/>
          </a:solidFill>
          <a:ln/>
        </p:spPr>
      </p:sp>
      <p:sp>
        <p:nvSpPr>
          <p:cNvPr id="24" name="Shape 22"/>
          <p:cNvSpPr/>
          <p:nvPr/>
        </p:nvSpPr>
        <p:spPr>
          <a:xfrm>
            <a:off x="6525158" y="4065422"/>
            <a:ext cx="25603" cy="25603"/>
          </a:xfrm>
          <a:prstGeom prst="ellipse">
            <a:avLst/>
          </a:prstGeom>
          <a:solidFill>
            <a:srgbClr val="FFFFFF"/>
          </a:solidFill>
          <a:ln/>
        </p:spPr>
      </p:sp>
      <p:sp>
        <p:nvSpPr>
          <p:cNvPr id="25" name="Text 23"/>
          <p:cNvSpPr/>
          <p:nvPr/>
        </p:nvSpPr>
        <p:spPr>
          <a:xfrm>
            <a:off x="6720840" y="39319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Longer time series (4–5 years) to confirm seasonality statistically</a:t>
            </a:r>
            <a:endParaRPr lang="en-US" sz="1050" dirty="0"/>
          </a:p>
        </p:txBody>
      </p:sp>
      <p:sp>
        <p:nvSpPr>
          <p:cNvPr id="26" name="Shape 24"/>
          <p:cNvSpPr/>
          <p:nvPr/>
        </p:nvSpPr>
        <p:spPr>
          <a:xfrm rot="2700000">
            <a:off x="6492240" y="4718304"/>
            <a:ext cx="91440" cy="91440"/>
          </a:xfrm>
          <a:prstGeom prst="rect">
            <a:avLst/>
          </a:prstGeom>
          <a:solidFill>
            <a:srgbClr val="C81E3A"/>
          </a:solidFill>
          <a:ln/>
        </p:spPr>
      </p:sp>
      <p:sp>
        <p:nvSpPr>
          <p:cNvPr id="27" name="Shape 25"/>
          <p:cNvSpPr/>
          <p:nvPr/>
        </p:nvSpPr>
        <p:spPr>
          <a:xfrm>
            <a:off x="6525158" y="4751222"/>
            <a:ext cx="25603" cy="25603"/>
          </a:xfrm>
          <a:prstGeom prst="ellipse">
            <a:avLst/>
          </a:prstGeom>
          <a:solidFill>
            <a:srgbClr val="FFFFFF"/>
          </a:solidFill>
          <a:ln/>
        </p:spPr>
      </p:sp>
      <p:sp>
        <p:nvSpPr>
          <p:cNvPr id="28" name="Text 26"/>
          <p:cNvSpPr/>
          <p:nvPr/>
        </p:nvSpPr>
        <p:spPr>
          <a:xfrm>
            <a:off x="6720840" y="46177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Category and supplier enrichment to test whether category or supplier drives cancellation risk</a:t>
            </a:r>
            <a:endParaRPr lang="en-US" sz="1050" dirty="0"/>
          </a:p>
        </p:txBody>
      </p:sp>
      <p:sp>
        <p:nvSpPr>
          <p:cNvPr id="29" name="Shape 27"/>
          <p:cNvSpPr/>
          <p:nvPr/>
        </p:nvSpPr>
        <p:spPr>
          <a:xfrm rot="2700000">
            <a:off x="6492240" y="5404104"/>
            <a:ext cx="91440" cy="91440"/>
          </a:xfrm>
          <a:prstGeom prst="rect">
            <a:avLst/>
          </a:prstGeom>
          <a:solidFill>
            <a:srgbClr val="C81E3A"/>
          </a:solidFill>
          <a:ln/>
        </p:spPr>
      </p:sp>
      <p:sp>
        <p:nvSpPr>
          <p:cNvPr id="30" name="Shape 28"/>
          <p:cNvSpPr/>
          <p:nvPr/>
        </p:nvSpPr>
        <p:spPr>
          <a:xfrm>
            <a:off x="6525158" y="5437022"/>
            <a:ext cx="25603" cy="25603"/>
          </a:xfrm>
          <a:prstGeom prst="ellipse">
            <a:avLst/>
          </a:prstGeom>
          <a:solidFill>
            <a:srgbClr val="FFFFFF"/>
          </a:solidFill>
          <a:ln/>
        </p:spPr>
      </p:sp>
      <p:sp>
        <p:nvSpPr>
          <p:cNvPr id="31" name="Text 29"/>
          <p:cNvSpPr/>
          <p:nvPr/>
        </p:nvSpPr>
        <p:spPr>
          <a:xfrm>
            <a:off x="6720840" y="53035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Return-reason codes — the biggest gap. Every section shows what is happening but not why.</a:t>
            </a:r>
            <a:endParaRPr lang="en-US" sz="1050" dirty="0"/>
          </a:p>
        </p:txBody>
      </p:sp>
      <p:sp>
        <p:nvSpPr>
          <p:cNvPr id="32" name="Shape 30"/>
          <p:cNvSpPr/>
          <p:nvPr/>
        </p:nvSpPr>
        <p:spPr>
          <a:xfrm>
            <a:off x="457200" y="6355080"/>
            <a:ext cx="11277295" cy="0"/>
          </a:xfrm>
          <a:prstGeom prst="line">
            <a:avLst/>
          </a:prstGeom>
          <a:noFill/>
          <a:ln w="9525">
            <a:solidFill>
              <a:srgbClr val="D6D4C8"/>
            </a:solidFill>
            <a:prstDash val="solid"/>
          </a:ln>
        </p:spPr>
      </p:sp>
      <p:sp>
        <p:nvSpPr>
          <p:cNvPr id="33" name="Text 31"/>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34" name="Text 32"/>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13 / 14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412"/>
        </a:solidFill>
        <a:effectLst/>
      </p:bgPr>
    </p:bg>
    <p:spTree>
      <p:nvGrpSpPr>
        <p:cNvPr id="1" name=""/>
        <p:cNvGrpSpPr/>
        <p:nvPr/>
      </p:nvGrpSpPr>
      <p:grpSpPr>
        <a:xfrm>
          <a:off x="0" y="0"/>
          <a:ext cx="0" cy="0"/>
          <a:chOff x="0" y="0"/>
          <a:chExt cx="0" cy="0"/>
        </a:xfrm>
      </p:grpSpPr>
      <p:sp>
        <p:nvSpPr>
          <p:cNvPr id="2" name="Shape 0"/>
          <p:cNvSpPr/>
          <p:nvPr/>
        </p:nvSpPr>
        <p:spPr>
          <a:xfrm>
            <a:off x="1463040" y="0"/>
            <a:ext cx="0" cy="6858000"/>
          </a:xfrm>
          <a:prstGeom prst="line">
            <a:avLst/>
          </a:prstGeom>
          <a:noFill/>
          <a:ln w="6350">
            <a:solidFill>
              <a:srgbClr val="232320"/>
            </a:solidFill>
            <a:prstDash val="solid"/>
          </a:ln>
        </p:spPr>
      </p:sp>
      <p:sp>
        <p:nvSpPr>
          <p:cNvPr id="3" name="Shape 1"/>
          <p:cNvSpPr/>
          <p:nvPr/>
        </p:nvSpPr>
        <p:spPr>
          <a:xfrm>
            <a:off x="3840480" y="0"/>
            <a:ext cx="0" cy="6858000"/>
          </a:xfrm>
          <a:prstGeom prst="line">
            <a:avLst/>
          </a:prstGeom>
          <a:noFill/>
          <a:ln w="6350">
            <a:solidFill>
              <a:srgbClr val="232320"/>
            </a:solidFill>
            <a:prstDash val="solid"/>
          </a:ln>
        </p:spPr>
      </p:sp>
      <p:sp>
        <p:nvSpPr>
          <p:cNvPr id="4" name="Shape 2"/>
          <p:cNvSpPr/>
          <p:nvPr/>
        </p:nvSpPr>
        <p:spPr>
          <a:xfrm>
            <a:off x="6217920" y="0"/>
            <a:ext cx="0" cy="6858000"/>
          </a:xfrm>
          <a:prstGeom prst="line">
            <a:avLst/>
          </a:prstGeom>
          <a:noFill/>
          <a:ln w="6350">
            <a:solidFill>
              <a:srgbClr val="232320"/>
            </a:solidFill>
            <a:prstDash val="solid"/>
          </a:ln>
        </p:spPr>
      </p:sp>
      <p:sp>
        <p:nvSpPr>
          <p:cNvPr id="5" name="Shape 3"/>
          <p:cNvSpPr/>
          <p:nvPr/>
        </p:nvSpPr>
        <p:spPr>
          <a:xfrm>
            <a:off x="8595360" y="0"/>
            <a:ext cx="0" cy="6858000"/>
          </a:xfrm>
          <a:prstGeom prst="line">
            <a:avLst/>
          </a:prstGeom>
          <a:noFill/>
          <a:ln w="6350">
            <a:solidFill>
              <a:srgbClr val="232320"/>
            </a:solidFill>
            <a:prstDash val="solid"/>
          </a:ln>
        </p:spPr>
      </p:sp>
      <p:sp>
        <p:nvSpPr>
          <p:cNvPr id="6" name="Shape 4"/>
          <p:cNvSpPr/>
          <p:nvPr/>
        </p:nvSpPr>
        <p:spPr>
          <a:xfrm>
            <a:off x="10972800" y="0"/>
            <a:ext cx="0" cy="6858000"/>
          </a:xfrm>
          <a:prstGeom prst="line">
            <a:avLst/>
          </a:prstGeom>
          <a:noFill/>
          <a:ln w="6350">
            <a:solidFill>
              <a:srgbClr val="232320"/>
            </a:solidFill>
            <a:prstDash val="solid"/>
          </a:ln>
        </p:spPr>
      </p:sp>
      <p:sp>
        <p:nvSpPr>
          <p:cNvPr id="7" name="Shape 5"/>
          <p:cNvSpPr/>
          <p:nvPr/>
        </p:nvSpPr>
        <p:spPr>
          <a:xfrm rot="2700000">
            <a:off x="658368" y="2286000"/>
            <a:ext cx="310896" cy="310896"/>
          </a:xfrm>
          <a:prstGeom prst="rect">
            <a:avLst/>
          </a:prstGeom>
          <a:solidFill>
            <a:srgbClr val="C81E3A"/>
          </a:solidFill>
          <a:ln/>
        </p:spPr>
      </p:sp>
      <p:sp>
        <p:nvSpPr>
          <p:cNvPr id="8" name="Shape 6"/>
          <p:cNvSpPr/>
          <p:nvPr/>
        </p:nvSpPr>
        <p:spPr>
          <a:xfrm>
            <a:off x="770291" y="2397923"/>
            <a:ext cx="87051" cy="87051"/>
          </a:xfrm>
          <a:prstGeom prst="ellipse">
            <a:avLst/>
          </a:prstGeom>
          <a:solidFill>
            <a:srgbClr val="FFFFFF"/>
          </a:solidFill>
          <a:ln/>
        </p:spPr>
      </p:sp>
      <p:sp>
        <p:nvSpPr>
          <p:cNvPr id="9" name="Text 7"/>
          <p:cNvSpPr/>
          <p:nvPr/>
        </p:nvSpPr>
        <p:spPr>
          <a:xfrm>
            <a:off x="640080" y="2651760"/>
            <a:ext cx="9144000" cy="960120"/>
          </a:xfrm>
          <a:prstGeom prst="rect">
            <a:avLst/>
          </a:prstGeom>
          <a:noFill/>
          <a:ln/>
        </p:spPr>
        <p:txBody>
          <a:bodyPr wrap="square"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Thank You</a:t>
            </a:r>
            <a:endParaRPr lang="en-US" sz="4600" dirty="0"/>
          </a:p>
        </p:txBody>
      </p:sp>
      <p:sp>
        <p:nvSpPr>
          <p:cNvPr id="10" name="Text 8"/>
          <p:cNvSpPr/>
          <p:nvPr/>
        </p:nvSpPr>
        <p:spPr>
          <a:xfrm>
            <a:off x="658368" y="3520440"/>
            <a:ext cx="9144000" cy="502920"/>
          </a:xfrm>
          <a:prstGeom prst="rect">
            <a:avLst/>
          </a:prstGeom>
          <a:noFill/>
          <a:ln/>
        </p:spPr>
        <p:txBody>
          <a:bodyPr wrap="square" rtlCol="0" anchor="ctr"/>
          <a:lstStyle/>
          <a:p>
            <a:pPr marL="0" indent="0">
              <a:buNone/>
            </a:pPr>
            <a:r>
              <a:rPr lang="en-US" sz="1600" i="1" kern="0" spc="150" dirty="0">
                <a:solidFill>
                  <a:srgbClr val="8B8B99"/>
                </a:solidFill>
                <a:latin typeface="Courier New" pitchFamily="34" charset="0"/>
                <a:ea typeface="Courier New" pitchFamily="34" charset="-122"/>
                <a:cs typeface="Courier New" pitchFamily="34" charset="-120"/>
              </a:rPr>
              <a:t>Questions &amp; Discussion</a:t>
            </a:r>
            <a:endParaRPr lang="en-US" sz="1600" dirty="0"/>
          </a:p>
        </p:txBody>
      </p:sp>
      <p:sp>
        <p:nvSpPr>
          <p:cNvPr id="11" name="Shape 9"/>
          <p:cNvSpPr/>
          <p:nvPr/>
        </p:nvSpPr>
        <p:spPr>
          <a:xfrm>
            <a:off x="658368" y="4297680"/>
            <a:ext cx="10881360" cy="0"/>
          </a:xfrm>
          <a:prstGeom prst="line">
            <a:avLst/>
          </a:prstGeom>
          <a:noFill/>
          <a:ln w="9525">
            <a:solidFill>
              <a:srgbClr val="3A3A46"/>
            </a:solidFill>
            <a:prstDash val="solid"/>
          </a:ln>
        </p:spPr>
      </p:sp>
      <p:sp>
        <p:nvSpPr>
          <p:cNvPr id="12" name="Text 10"/>
          <p:cNvSpPr/>
          <p:nvPr/>
        </p:nvSpPr>
        <p:spPr>
          <a:xfrm>
            <a:off x="658368" y="4480560"/>
            <a:ext cx="7315200" cy="365760"/>
          </a:xfrm>
          <a:prstGeom prst="rect">
            <a:avLst/>
          </a:prstGeom>
          <a:noFill/>
          <a:ln/>
        </p:spPr>
        <p:txBody>
          <a:bodyPr wrap="square" rtlCol="0" anchor="ctr"/>
          <a:lstStyle/>
          <a:p>
            <a:pPr marL="0" indent="0">
              <a:buNone/>
            </a:pPr>
            <a:r>
              <a:rPr lang="en-US" sz="1200" dirty="0">
                <a:solidFill>
                  <a:srgbClr val="C7C7CE"/>
                </a:solidFill>
                <a:latin typeface="Courier New" pitchFamily="34" charset="0"/>
                <a:ea typeface="Courier New" pitchFamily="34" charset="-122"/>
                <a:cs typeface="Courier New" pitchFamily="34" charset="-120"/>
              </a:rPr>
              <a:t>Sandra  ·  Renato  ·  Okah  ·  Sudarsh</a:t>
            </a:r>
            <a:endParaRPr lang="en-US" sz="1200" dirty="0"/>
          </a:p>
        </p:txBody>
      </p:sp>
      <p:sp>
        <p:nvSpPr>
          <p:cNvPr id="13" name="Text 11"/>
          <p:cNvSpPr/>
          <p:nvPr/>
        </p:nvSpPr>
        <p:spPr>
          <a:xfrm>
            <a:off x="658368" y="6446520"/>
            <a:ext cx="7315200" cy="274320"/>
          </a:xfrm>
          <a:prstGeom prst="rect">
            <a:avLst/>
          </a:prstGeom>
          <a:noFill/>
          <a:ln/>
        </p:spPr>
        <p:txBody>
          <a:bodyPr wrap="square" rtlCol="0" anchor="ctr"/>
          <a:lstStyle/>
          <a:p>
            <a:pPr marL="0" indent="0">
              <a:buNone/>
            </a:pPr>
            <a:r>
              <a:rPr lang="en-US" sz="850" kern="0" spc="100" dirty="0">
                <a:solidFill>
                  <a:srgbClr val="6E6E7A"/>
                </a:solidFill>
                <a:latin typeface="Courier New" pitchFamily="34" charset="0"/>
                <a:ea typeface="Courier New" pitchFamily="34" charset="-122"/>
                <a:cs typeface="Courier New" pitchFamily="34" charset="-120"/>
              </a:rPr>
              <a:t>END OF ISSUE NO. 01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2892</Words>
  <Application>Microsoft Office PowerPoint</Application>
  <PresentationFormat>Widescreen</PresentationFormat>
  <Paragraphs>179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Okah Ahone Ebwekoh</cp:lastModifiedBy>
  <cp:revision>3</cp:revision>
  <dcterms:created xsi:type="dcterms:W3CDTF">2026-07-14T11:53:27Z</dcterms:created>
  <dcterms:modified xsi:type="dcterms:W3CDTF">2026-07-15T11:39:40Z</dcterms:modified>
</cp:coreProperties>
</file>